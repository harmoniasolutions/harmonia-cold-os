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Cold Caller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 Suite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crush it on the phones and earn big.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3840480" cy="594360"/>
          </a:xfrm>
          <a:prstGeom prst="rect">
            <a:avLst/>
          </a:prstGeom>
          <a:solidFill>
            <a:srgbClr val="00C9A7">
              <a:alpha val="15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8404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$15/hr base  +  20% commission on closed deals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C9A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Learn Today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is your complete playbook. Master it and the money follows.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365760" cy="365760"/>
          </a:xfrm>
          <a:prstGeom prst="oval">
            <a:avLst/>
          </a:prstGeom>
          <a:solidFill>
            <a:srgbClr val="00C9A7">
              <a:alpha val="88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867" y="1634947"/>
            <a:ext cx="204826" cy="20482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54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Harmonia sells &amp; why HVAC companies need it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914400" y="2103120"/>
            <a:ext cx="365760" cy="365760"/>
          </a:xfrm>
          <a:prstGeom prst="oval">
            <a:avLst/>
          </a:prstGeom>
          <a:solidFill>
            <a:srgbClr val="F59E0B">
              <a:alpha val="88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" y="2183587"/>
            <a:ext cx="204826" cy="20482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103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pay structure — $15/hr + 20% of every closed deal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914400" y="2651760"/>
            <a:ext cx="365760" cy="365760"/>
          </a:xfrm>
          <a:prstGeom prst="oval">
            <a:avLst/>
          </a:prstGeom>
          <a:solidFill>
            <a:srgbClr val="8B5CF6">
              <a:alpha val="88000"/>
            </a:srgbClr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867" y="2732227"/>
            <a:ext cx="204826" cy="20482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63040" y="2651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cold call script from opener to close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914400" y="3200400"/>
            <a:ext cx="365760" cy="365760"/>
          </a:xfrm>
          <a:prstGeom prst="oval">
            <a:avLst/>
          </a:prstGeom>
          <a:solidFill>
            <a:srgbClr val="F87171">
              <a:alpha val="88000"/>
            </a:srgbClr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867" y="3280867"/>
            <a:ext cx="204826" cy="20482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63040" y="3200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handle every objection with confidence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914400" y="3749040"/>
            <a:ext cx="365760" cy="365760"/>
          </a:xfrm>
          <a:prstGeom prst="oval">
            <a:avLst/>
          </a:prstGeom>
          <a:solidFill>
            <a:srgbClr val="10B981">
              <a:alpha val="88000"/>
            </a:srgbClr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867" y="3829507"/>
            <a:ext cx="204826" cy="20482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6304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demos &amp; follow-up process</a:t>
            </a:r>
            <a:endParaRPr lang="en-US" sz="1500" dirty="0"/>
          </a:p>
        </p:txBody>
      </p:sp>
      <p:sp>
        <p:nvSpPr>
          <p:cNvPr id="19" name="Shape 12"/>
          <p:cNvSpPr/>
          <p:nvPr/>
        </p:nvSpPr>
        <p:spPr>
          <a:xfrm>
            <a:off x="914400" y="4297680"/>
            <a:ext cx="365760" cy="365760"/>
          </a:xfrm>
          <a:prstGeom prst="oval">
            <a:avLst/>
          </a:prstGeom>
          <a:solidFill>
            <a:srgbClr val="00C9A7">
              <a:alpha val="88000"/>
            </a:srgbClr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867" y="4378147"/>
            <a:ext cx="204826" cy="20482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463040" y="4297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your pipeline &amp; maximizing commissions</a:t>
            </a:r>
            <a:endParaRPr lang="en-US" sz="1500" dirty="0"/>
          </a:p>
        </p:txBody>
      </p:sp>
      <p:sp>
        <p:nvSpPr>
          <p:cNvPr id="22" name="Shape 1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3" name="Text 15"/>
          <p:cNvSpPr/>
          <p:nvPr/>
        </p:nvSpPr>
        <p:spPr>
          <a:xfrm>
            <a:off x="7772400" y="4663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Harmonia?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phone system that answers 100% of calls for HVAC companies — 24/7.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657600" cy="1188720"/>
          </a:xfrm>
          <a:prstGeom prst="rect">
            <a:avLst/>
          </a:prstGeom>
          <a:solidFill>
            <a:srgbClr val="0A122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54864" cy="11887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1874520"/>
            <a:ext cx="411480" cy="411480"/>
          </a:xfrm>
          <a:prstGeom prst="oval">
            <a:avLst/>
          </a:prstGeom>
          <a:solidFill>
            <a:srgbClr val="00C9A7">
              <a:alpha val="88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646" y="1965046"/>
            <a:ext cx="230429" cy="2304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828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Every Call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08760" y="2148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receptionist sounds human, knows their services, books jobs — not voicemail.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645920"/>
            <a:ext cx="3657600" cy="1188720"/>
          </a:xfrm>
          <a:prstGeom prst="rect">
            <a:avLst/>
          </a:prstGeom>
          <a:solidFill>
            <a:srgbClr val="0A122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645920"/>
            <a:ext cx="54864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9"/>
          <p:cNvSpPr/>
          <p:nvPr/>
        </p:nvSpPr>
        <p:spPr>
          <a:xfrm>
            <a:off x="4983480" y="1874520"/>
            <a:ext cx="411480" cy="411480"/>
          </a:xfrm>
          <a:prstGeom prst="oval">
            <a:avLst/>
          </a:prstGeom>
          <a:solidFill>
            <a:srgbClr val="F59E0B">
              <a:alpha val="88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006" y="1965046"/>
            <a:ext cx="230429" cy="23042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32120" y="1828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24/7/365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532120" y="2148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Nights, weekends, holidays. Never calls in sick. Never puts callers on hold.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31520" y="3108960"/>
            <a:ext cx="3657600" cy="1188720"/>
          </a:xfrm>
          <a:prstGeom prst="rect">
            <a:avLst/>
          </a:prstGeom>
          <a:solidFill>
            <a:srgbClr val="0A122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3108960"/>
            <a:ext cx="54864" cy="1188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Shape 14"/>
          <p:cNvSpPr/>
          <p:nvPr/>
        </p:nvSpPr>
        <p:spPr>
          <a:xfrm>
            <a:off x="960120" y="3337560"/>
            <a:ext cx="411480" cy="411480"/>
          </a:xfrm>
          <a:prstGeom prst="oval">
            <a:avLst/>
          </a:prstGeom>
          <a:solidFill>
            <a:srgbClr val="10B981">
              <a:alpha val="88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646" y="3428086"/>
            <a:ext cx="230429" cy="23042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08760" y="3291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Appointments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508760" y="3611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availability and books directly into their calendar — real-time.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754880" y="3108960"/>
            <a:ext cx="3657600" cy="1188720"/>
          </a:xfrm>
          <a:prstGeom prst="rect">
            <a:avLst/>
          </a:prstGeom>
          <a:solidFill>
            <a:srgbClr val="0A122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54880" y="3108960"/>
            <a:ext cx="54864" cy="1188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Shape 19"/>
          <p:cNvSpPr/>
          <p:nvPr/>
        </p:nvSpPr>
        <p:spPr>
          <a:xfrm>
            <a:off x="4983480" y="3337560"/>
            <a:ext cx="411480" cy="411480"/>
          </a:xfrm>
          <a:prstGeom prst="oval">
            <a:avLst/>
          </a:prstGeom>
          <a:solidFill>
            <a:srgbClr val="8B5CF6">
              <a:alpha val="88000"/>
            </a:srgbClr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006" y="3428086"/>
            <a:ext cx="230429" cy="230429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32120" y="3291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for Itself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5532120" y="3611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booked job covers the monthly cost. Average ROI is 6,500%.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9" name="Text 23"/>
          <p:cNvSpPr/>
          <p:nvPr/>
        </p:nvSpPr>
        <p:spPr>
          <a:xfrm>
            <a:off x="7772400" y="4663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HVAC Market Opportunity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product sells itself — if you know how to start the conversation.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4688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916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05840" y="25146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calls to HVAC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go unanswered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hours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66160" y="1554480"/>
            <a:ext cx="24688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6160" y="16916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10-30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840480" y="25146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calls per week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average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HVAC shop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1554480"/>
            <a:ext cx="24688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6916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$8-15K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675120" y="25146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lost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missed calls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slow follow-up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job: help them see the money they're leaving on the table.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0" y="4663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Compensation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2926080"/>
          </a:xfrm>
          <a:prstGeom prst="rect">
            <a:avLst/>
          </a:prstGeom>
          <a:solidFill>
            <a:srgbClr val="0A122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80160"/>
            <a:ext cx="54864" cy="29260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7373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274320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/hour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weekly via direct deposit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hourly — rain or shine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 or part-time available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657600" cy="2926080"/>
          </a:xfrm>
          <a:prstGeom prst="rect">
            <a:avLst/>
          </a:prstGeom>
          <a:solidFill>
            <a:srgbClr val="0A122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80160"/>
            <a:ext cx="54864" cy="2926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1737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685800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closed deals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27432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Harmonia sells at $497/month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cut: ~$99 per deal closed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on first month's payment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343400"/>
            <a:ext cx="7680960" cy="502920"/>
          </a:xfrm>
          <a:prstGeom prst="rect">
            <a:avLst/>
          </a:prstGeom>
          <a:solidFill>
            <a:srgbClr val="00C9A7">
              <a:alpha val="1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3434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10 deals/month = $990 commission + $2,400 base = $3,390/mo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0" y="4663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Earning Potential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40hrs/week at $15/hr + 20% of $497/deal.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7680960" cy="2286000"/>
        </p:xfrm>
        <a:graphic>
          <a:graphicData uri="http://schemas.openxmlformats.org/drawingml/2006/table">
            <a:tbl>
              <a:tblPr/>
              <a:tblGrid>
                <a:gridCol w="1280160"/>
                <a:gridCol w="1005840"/>
                <a:gridCol w="1280160"/>
                <a:gridCol w="1097280"/>
                <a:gridCol w="1463040"/>
                <a:gridCol w="15544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Deals/Mo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Pay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Starting Out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$2,895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$34,740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Getting Traction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$3,390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$40,680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Crushing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$4,380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$52,560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Performer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$2,970+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$5,370+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$64,440+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you close, the more you earn. No cap on commissions.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0" y="4663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Daily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8:30 AM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965960" y="1280160"/>
            <a:ext cx="182880" cy="182880"/>
          </a:xfrm>
          <a:prstGeom prst="oval">
            <a:avLst/>
          </a:prstGeom>
          <a:solidFill>
            <a:srgbClr val="00C9A7"/>
          </a:solidFill>
          <a:ln/>
        </p:spPr>
      </p:sp>
      <p:sp>
        <p:nvSpPr>
          <p:cNvPr id="5" name="Shape 3"/>
          <p:cNvSpPr/>
          <p:nvPr/>
        </p:nvSpPr>
        <p:spPr>
          <a:xfrm>
            <a:off x="2029968" y="1463040"/>
            <a:ext cx="54864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2331720" y="1188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hot leads &amp; prep sheets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 AM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65960" y="1737360"/>
            <a:ext cx="182880" cy="182880"/>
          </a:xfrm>
          <a:prstGeom prst="oval">
            <a:avLst/>
          </a:prstGeom>
          <a:solidFill>
            <a:srgbClr val="F87171"/>
          </a:solidFill>
          <a:ln/>
        </p:spPr>
      </p:sp>
      <p:sp>
        <p:nvSpPr>
          <p:cNvPr id="9" name="Shape 7"/>
          <p:cNvSpPr/>
          <p:nvPr/>
        </p:nvSpPr>
        <p:spPr>
          <a:xfrm>
            <a:off x="2029968" y="1920240"/>
            <a:ext cx="54864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call power hour #1 (50-70 dials)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 AM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65960" y="2194560"/>
            <a:ext cx="182880" cy="182880"/>
          </a:xfrm>
          <a:prstGeom prst="oval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2029968" y="2377440"/>
            <a:ext cx="54864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2331720" y="2103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 on warm leads &amp; callbacks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2560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11:30 AM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965960" y="2651760"/>
            <a:ext cx="182880" cy="182880"/>
          </a:xfrm>
          <a:prstGeom prst="oval">
            <a:avLst/>
          </a:prstGeom>
          <a:solidFill>
            <a:srgbClr val="F87171"/>
          </a:solidFill>
          <a:ln/>
        </p:spPr>
      </p:sp>
      <p:sp>
        <p:nvSpPr>
          <p:cNvPr id="17" name="Shape 15"/>
          <p:cNvSpPr/>
          <p:nvPr/>
        </p:nvSpPr>
        <p:spPr>
          <a:xfrm>
            <a:off x="2029968" y="2834640"/>
            <a:ext cx="54864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2331720" y="2560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call power hour #2 (50-70 dials)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017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 PM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965960" y="3108960"/>
            <a:ext cx="182880" cy="182880"/>
          </a:xfrm>
          <a:prstGeom prst="oval">
            <a:avLst/>
          </a:prstGeom>
          <a:solidFill>
            <a:srgbClr val="94A3B8"/>
          </a:solidFill>
          <a:ln/>
        </p:spPr>
      </p:sp>
      <p:sp>
        <p:nvSpPr>
          <p:cNvPr id="21" name="Shape 19"/>
          <p:cNvSpPr/>
          <p:nvPr/>
        </p:nvSpPr>
        <p:spPr>
          <a:xfrm>
            <a:off x="2029968" y="3291840"/>
            <a:ext cx="54864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2331720" y="3017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break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3474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 PM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965960" y="3566160"/>
            <a:ext cx="182880" cy="182880"/>
          </a:xfrm>
          <a:prstGeom prst="oval">
            <a:avLst/>
          </a:prstGeom>
          <a:solidFill>
            <a:srgbClr val="F87171"/>
          </a:solidFill>
          <a:ln/>
        </p:spPr>
      </p:sp>
      <p:sp>
        <p:nvSpPr>
          <p:cNvPr id="25" name="Shape 23"/>
          <p:cNvSpPr/>
          <p:nvPr/>
        </p:nvSpPr>
        <p:spPr>
          <a:xfrm>
            <a:off x="2029968" y="3749040"/>
            <a:ext cx="54864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2331720" y="3474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call power hour #3 (50-70 dials)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3931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 PM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965960" y="4023360"/>
            <a:ext cx="182880" cy="182880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29" name="Shape 27"/>
          <p:cNvSpPr/>
          <p:nvPr/>
        </p:nvSpPr>
        <p:spPr>
          <a:xfrm>
            <a:off x="2029968" y="4206240"/>
            <a:ext cx="54864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2331720" y="3931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confirmations &amp; pipeline updates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1520" y="4389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4:00 PM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965960" y="4480560"/>
            <a:ext cx="182880" cy="182880"/>
          </a:xfrm>
          <a:prstGeom prst="oval">
            <a:avLst/>
          </a:pr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2331720" y="4389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Follow-ups, log calls, plan tomorrow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583680" y="1188720"/>
            <a:ext cx="21031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83680" y="1188720"/>
            <a:ext cx="54864" cy="34747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1325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TARGET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83680" y="1737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150+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6583680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83680" y="2743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30+</a:t>
            </a:r>
            <a:endParaRPr lang="en-US" sz="3000" dirty="0"/>
          </a:p>
        </p:txBody>
      </p:sp>
      <p:sp>
        <p:nvSpPr>
          <p:cNvPr id="40" name="Text 38"/>
          <p:cNvSpPr/>
          <p:nvPr/>
        </p:nvSpPr>
        <p:spPr>
          <a:xfrm>
            <a:off x="6583680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583680" y="3749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3-5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6583680" y="4251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Set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44" name="Text 42"/>
          <p:cNvSpPr/>
          <p:nvPr/>
        </p:nvSpPr>
        <p:spPr>
          <a:xfrm>
            <a:off x="7772400" y="4663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Pre-Call Prep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seconds before every dial. This is what separates you from spam callers.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680960" cy="685800"/>
          </a:xfrm>
          <a:prstGeom prst="rect">
            <a:avLst/>
          </a:prstGeom>
          <a:solidFill>
            <a:srgbClr val="0A122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1664208"/>
            <a:ext cx="457200" cy="457200"/>
          </a:xfrm>
          <a:prstGeom prst="oval">
            <a:avLst/>
          </a:prstGeom>
          <a:solidFill>
            <a:srgbClr val="F59E0B">
              <a:alpha val="88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176479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6276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up their Google listing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00200" y="1901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rating, star count, photos, hours. This is your ammo.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2377440"/>
            <a:ext cx="7680960" cy="685800"/>
          </a:xfrm>
          <a:prstGeom prst="rect">
            <a:avLst/>
          </a:prstGeom>
          <a:solidFill>
            <a:srgbClr val="0A122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2377440"/>
            <a:ext cx="54864" cy="68580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2" name="Shape 9"/>
          <p:cNvSpPr/>
          <p:nvPr/>
        </p:nvSpPr>
        <p:spPr>
          <a:xfrm>
            <a:off x="960120" y="2487168"/>
            <a:ext cx="457200" cy="457200"/>
          </a:xfrm>
          <a:prstGeom prst="oval">
            <a:avLst/>
          </a:prstGeom>
          <a:solidFill>
            <a:srgbClr val="F87171">
              <a:alpha val="88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2587752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00200" y="2450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recent reviews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600200" y="27249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"never called back", "hard to reach", "waited forever".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31520" y="3200400"/>
            <a:ext cx="7680960" cy="685800"/>
          </a:xfrm>
          <a:prstGeom prst="rect">
            <a:avLst/>
          </a:prstGeom>
          <a:solidFill>
            <a:srgbClr val="0A122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3200400"/>
            <a:ext cx="54864" cy="6858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8" name="Shape 14"/>
          <p:cNvSpPr/>
          <p:nvPr/>
        </p:nvSpPr>
        <p:spPr>
          <a:xfrm>
            <a:off x="960120" y="3310128"/>
            <a:ext cx="457200" cy="457200"/>
          </a:xfrm>
          <a:prstGeom prst="oval">
            <a:avLst/>
          </a:prstGeom>
          <a:solidFill>
            <a:srgbClr val="00C9A7">
              <a:alpha val="88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3410712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00200" y="32735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their pain point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600200" y="35478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pain? Missed calls? Slow response? Low rating?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31520" y="4023360"/>
            <a:ext cx="7680960" cy="685800"/>
          </a:xfrm>
          <a:prstGeom prst="rect">
            <a:avLst/>
          </a:prstGeom>
          <a:solidFill>
            <a:srgbClr val="0A122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31520" y="4023360"/>
            <a:ext cx="54864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Shape 19"/>
          <p:cNvSpPr/>
          <p:nvPr/>
        </p:nvSpPr>
        <p:spPr>
          <a:xfrm>
            <a:off x="960120" y="4133088"/>
            <a:ext cx="457200" cy="457200"/>
          </a:xfrm>
          <a:prstGeom prst="oval">
            <a:avLst/>
          </a:prstGeom>
          <a:solidFill>
            <a:srgbClr val="10B981">
              <a:alpha val="88000"/>
            </a:srgbClr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4233672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00200" y="4096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their website open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1600200" y="43708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services they offer. Sound informed, not scripted.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9" name="Text 23"/>
          <p:cNvSpPr/>
          <p:nvPr/>
        </p:nvSpPr>
        <p:spPr>
          <a:xfrm>
            <a:off x="7772400" y="4663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1: The Opener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INTERRUPT — Break their "sales call" autopilot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54864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GATEKEEPER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7830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"Hey [NAME], this is [YOU] — is the owner around? It's about their missed calls."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371600"/>
            <a:ext cx="54864" cy="15544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/ DECISION MAKER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1783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"Hey [NAME], this is [YOU] with Harmonia. I'm not calling to sell you anything — I have a quick question about how you handle after-hours calls. Got 60 seconds?"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200400"/>
            <a:ext cx="54864" cy="100584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291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SAY "NOT A GOOD TIME"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35661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"Totally get it — when's a better time for literally 2 minutes? I've got something making HVAC companies in [CITY] an extra $8-15K a month."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4663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2: Discovery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pain. Ask these 3 questions — then shut up and listen.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solidFill>
            <a:srgbClr val="0A122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54864" cy="9144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1783080"/>
            <a:ext cx="502920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7830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162763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 someone calls your shop at 7 PM on a Saturday with a busted AC, what happens to that call right now?"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45920" y="21031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exposes their gap. Most will say voicemail or nothing.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7680960" cy="914400"/>
          </a:xfrm>
          <a:prstGeom prst="rect">
            <a:avLst/>
          </a:prstGeom>
          <a:solidFill>
            <a:srgbClr val="0A122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606040"/>
            <a:ext cx="54864" cy="9144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2" name="Shape 10"/>
          <p:cNvSpPr/>
          <p:nvPr/>
        </p:nvSpPr>
        <p:spPr>
          <a:xfrm>
            <a:off x="960120" y="2834640"/>
            <a:ext cx="502920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8346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45920" y="267919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many of those after-hours calls do you think you're missing per week? Ballpark."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45920" y="3154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them to quantify the problem. Common answer: 10-30 calls.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657600"/>
            <a:ext cx="7680960" cy="914400"/>
          </a:xfrm>
          <a:prstGeom prst="rect">
            <a:avLst/>
          </a:prstGeom>
          <a:solidFill>
            <a:srgbClr val="0A122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657600"/>
            <a:ext cx="54864" cy="9144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8" name="Shape 16"/>
          <p:cNvSpPr/>
          <p:nvPr/>
        </p:nvSpPr>
        <p:spPr>
          <a:xfrm>
            <a:off x="960120" y="3886200"/>
            <a:ext cx="502920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38862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45920" y="373075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your average ticket on an emergency call like that?"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45920" y="4206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up the money math. Common answer: $300-800.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0" y="4663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3: Agitate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HURT — Use their own numbers against them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54864" cy="146304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554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SCRIPT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8745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 let me do some quick math... if you're missing [X] calls a week, that's [X*4] a month. Even if only 30% turn into jobs at $[THEIR AVG TICKET]... that's $[CALCULATE] a month in revenue just walking out the door."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7680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32918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CALCULATION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missed calls/week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4 weeks = 60 missed/month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3904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conversion rate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3904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18 potential jobs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41970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$500 avg ticket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0" y="41970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$9,000/month lost revenue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572000"/>
            <a:ext cx="3200400" cy="22860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Pause. Let the number sink in. Silence sells.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4663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4: The Pitch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simple. 30 seconds max. Let the product do the heavy lifting.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1920240"/>
          </a:xfrm>
          <a:prstGeom prst="rect">
            <a:avLst/>
          </a:prstGeom>
          <a:solidFill>
            <a:srgbClr val="0A122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54864" cy="19202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SCRIPT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87452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"Here's what we do — and this might sound crazy — we set up an AI that answers 100% of your calls. Not a voicemail, not an answering service with someone reading a script. An actual AI that sounds human, knows your services, books the appointment right into your calendar, and texts you the details."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works 24/7, never calls in sick, never puts people on hold. And the best part? You only pay if it works."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PHRASES TO WEAVE 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977640"/>
            <a:ext cx="2377440" cy="45720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977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pays for itself with one job"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11880" y="3977640"/>
            <a:ext cx="2377440" cy="45720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3977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only pay if it works"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0" y="3977640"/>
            <a:ext cx="2377440" cy="45720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3977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"That's revenue walking out the door"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4663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Handling Objections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Objections = interest. Welcome them.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76809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17320"/>
            <a:ext cx="54864" cy="96012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9047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already have an answering service"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76479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"Most of my clients did too. Here's the difference — an answering service takes a message. Our AI actually books the job. Plus it probably costs you $200-400/mo and you still have to call everyone back."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514600"/>
            <a:ext cx="76809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514600"/>
            <a:ext cx="54864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5877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does it cost?"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86207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"Before pricing — if this books you 5 extra jobs a month you would've lost, what's that worth? [Let them answer] Right, so it's $497/month. Pays for itself with one job."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611880"/>
            <a:ext cx="76809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611880"/>
            <a:ext cx="54864" cy="9601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68503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don't trust AI"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95935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get it — a year ago I would've said the same thing. Want to hear it for yourself? I can call your phone right now and you can test it. Takes 30 seconds."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4663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Objections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solidFill>
            <a:srgbClr val="0A122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9144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887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"I'm not big enough / just me"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48132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"That's actually the perfect time. You're wearing every hat — this takes one off. And if it's just you, you REALLY can't afford to miss calls while you're on a job."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7680960" cy="914400"/>
          </a:xfrm>
          <a:prstGeom prst="rect">
            <a:avLst/>
          </a:prstGeom>
          <a:solidFill>
            <a:srgbClr val="0A122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148840"/>
            <a:ext cx="54864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402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need to think about it"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53288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"Totally fair. What specifically do you need to think through? Is it the tech, the cost, or something else?"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200400"/>
            <a:ext cx="7680960" cy="914400"/>
          </a:xfrm>
          <a:prstGeom prst="rect">
            <a:avLst/>
          </a:prstGeom>
          <a:solidFill>
            <a:srgbClr val="0A122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200400"/>
            <a:ext cx="54864" cy="914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2918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"Send me some info"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58444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"Happy to — but that email's going to sit in your inbox. How about a 10-minute demo? You see how it works, if it's not for you, no worries. What's tomorrow look like?"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Never argue. Acknowledge, redirect, offer proof.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0" y="4663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5: The Close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43000"/>
            <a:ext cx="54864" cy="105156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2161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CLOSE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"Based on what you told me — missing [X] calls, $[Y] average ticket — this is a no-brainer for you. What questions do you have before we get you set up?"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89280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they're engaged and asking good questions.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331720"/>
            <a:ext cx="54864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40487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ASSUMPTIVE CLOSE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6517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"I've got two slots this week for onboarding — Tuesday afternoon or Thursday morning. Which works better for you?"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08152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they've shown clear buying signals.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52044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520440"/>
            <a:ext cx="54864" cy="105156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5935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CLOSE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8404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"I'm only taking on 3 HVAC companies in [CITY] this month to nail the setup. After that, there's a waitlist. Want me to hold a spot?"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427024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they like it but aren't committing.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4663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the Call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isn't over when you hang up. Follow-up = commission.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6583680" cy="640080"/>
          </a:xfrm>
          <a:prstGeom prst="rect">
            <a:avLst/>
          </a:prstGeom>
          <a:solidFill>
            <a:srgbClr val="0A122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54864" cy="6400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1691640"/>
            <a:ext cx="365760" cy="365760"/>
          </a:xfrm>
          <a:prstGeom prst="oval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1627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call in Airtable immediately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901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Lead Status, notes, and next action.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589520" y="1691640"/>
            <a:ext cx="1005840" cy="365760"/>
          </a:xfrm>
          <a:prstGeom prst="rect">
            <a:avLst/>
          </a:prstGeom>
          <a:solidFill>
            <a:srgbClr val="00C9A7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589520" y="16916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1 min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331720"/>
            <a:ext cx="6583680" cy="640080"/>
          </a:xfrm>
          <a:prstGeom prst="rect">
            <a:avLst/>
          </a:prstGeom>
          <a:solidFill>
            <a:srgbClr val="0A122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33172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960120" y="2468880"/>
            <a:ext cx="365760" cy="365760"/>
          </a:xfrm>
          <a:prstGeom prst="oval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760" y="24048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calendar invite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26791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link + brief recap. Don't let it go cold.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89520" y="2468880"/>
            <a:ext cx="1005840" cy="36576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0" y="2468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5 min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108960"/>
            <a:ext cx="6583680" cy="640080"/>
          </a:xfrm>
          <a:prstGeom prst="rect">
            <a:avLst/>
          </a:prstGeom>
          <a:solidFill>
            <a:srgbClr val="0A122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108960"/>
            <a:ext cx="54864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Shape 20"/>
          <p:cNvSpPr/>
          <p:nvPr/>
        </p:nvSpPr>
        <p:spPr>
          <a:xfrm>
            <a:off x="960120" y="3246120"/>
            <a:ext cx="365760" cy="365760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08760" y="31821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recap text message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08760" y="34564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"Hey [NAME], good chatting. Here's that demo link: [LINK]"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89520" y="3246120"/>
            <a:ext cx="1005840" cy="365760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589520" y="32461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5 min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3886200"/>
            <a:ext cx="6583680" cy="640080"/>
          </a:xfrm>
          <a:prstGeom prst="rect">
            <a:avLst/>
          </a:prstGeom>
          <a:solidFill>
            <a:srgbClr val="0A122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" y="3886200"/>
            <a:ext cx="54864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Shape 28"/>
          <p:cNvSpPr/>
          <p:nvPr/>
        </p:nvSpPr>
        <p:spPr>
          <a:xfrm>
            <a:off x="960120" y="4023360"/>
            <a:ext cx="365760" cy="365760"/>
          </a:xfrm>
          <a:prstGeom prst="oval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96012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508760" y="3959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follow-up reminder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508760" y="42336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meeting booked, follow up in 2 days.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589520" y="4023360"/>
            <a:ext cx="1005840" cy="365760"/>
          </a:xfrm>
          <a:prstGeom prst="rect">
            <a:avLst/>
          </a:prstGeom>
          <a:solidFill>
            <a:srgbClr val="8B5CF6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589520" y="40233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0" y="4663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Do's and Don'ts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657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3474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88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50876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confident and relaxed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their name frequently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their specific reviews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questions, then listen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 live demo on the spot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 within 5 minutes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call in Airtable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 when you dial (they hear it)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657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54864" cy="347472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188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150876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was just calling to..."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this a good time?"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"Our product / Our service"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buzzwords or jargon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script robotically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over the prospect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pre-call prep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log the call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4663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Go Close.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solidFill>
            <a:srgbClr val="0A122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286000"/>
            <a:ext cx="54864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377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VOICEMAIL SCRIPT (Keep under 25 seconds)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"Hey [NAME], [YOUR NAME] here. I help HVAC companies in [CITY] capture the calls they're missing after hours. Saw you've got some reviews mentioning callback times — I've got a fix that's adding $8-15K a month for shops like yours. Call me back at [NUMBER] or I'll try you again Thursday."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931920"/>
            <a:ext cx="2468880" cy="64008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9319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$15/hr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42793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20440" y="3931920"/>
            <a:ext cx="2468880" cy="64008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39319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20440" y="42793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3931920"/>
            <a:ext cx="2468880" cy="64008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39319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Unlimited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09360" y="42793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C9A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Cold Caller Onboarding Suite</dc:title>
  <dc:subject>PptxGenJS Presentation</dc:subject>
  <dc:creator>Harmonia</dc:creator>
  <cp:lastModifiedBy>Harmonia</cp:lastModifiedBy>
  <cp:revision>1</cp:revision>
  <dcterms:created xsi:type="dcterms:W3CDTF">2026-03-01T04:16:58Z</dcterms:created>
  <dcterms:modified xsi:type="dcterms:W3CDTF">2026-03-01T04:16:58Z</dcterms:modified>
</cp:coreProperties>
</file>