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angle">
            <a:avLst/>
          </a:prstGeom>
          <a:solidFill>
            <a:srgbClr val="D4A843"/>
          </a:solidFill>
          <a:ln/>
        </p:spPr>
      </p:sp>
      <p:sp>
        <p:nvSpPr>
          <p:cNvPr id="3" name="Text 1"/>
          <p:cNvSpPr/>
          <p:nvPr/>
        </p:nvSpPr>
        <p:spPr>
          <a:xfrm>
            <a:off x="731520" y="1097280"/>
            <a:ext cx="7680960" cy="109728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Scaling Outbound for Harmonia</a:t>
            </a:r>
            <a:endParaRPr lang="en-US" sz="3800" dirty="0"/>
          </a:p>
        </p:txBody>
      </p:sp>
      <p:sp>
        <p:nvSpPr>
          <p:cNvPr id="4" name="Text 2"/>
          <p:cNvSpPr/>
          <p:nvPr/>
        </p:nvSpPr>
        <p:spPr>
          <a:xfrm>
            <a:off x="731520" y="2286000"/>
            <a:ext cx="7680960" cy="914400"/>
          </a:xfrm>
          <a:prstGeom prst="rect">
            <a:avLst/>
          </a:prstGeom>
          <a:noFill/>
          <a:ln/>
        </p:spPr>
        <p:txBody>
          <a:bodyPr wrap="square" lIns="0" tIns="0" rIns="0" bIns="0" rtlCol="0" anchor="ctr"/>
          <a:lstStyle/>
          <a:p>
            <a:pPr indent="0" marL="0">
              <a:buNone/>
            </a:pPr>
            <a:r>
              <a:rPr lang="en-US" sz="1600" dirty="0">
                <a:solidFill>
                  <a:srgbClr val="F0D78C"/>
                </a:solidFill>
                <a:latin typeface="Calibri" pitchFamily="34" charset="0"/>
                <a:ea typeface="Calibri" pitchFamily="34" charset="-122"/>
                <a:cs typeface="Calibri" pitchFamily="34" charset="-120"/>
              </a:rPr>
              <a:t>How Owner.com Built a $40M+ ARR Outbound Machine</a:t>
            </a:r>
            <a:endParaRPr lang="en-US" sz="1600" dirty="0"/>
          </a:p>
          <a:p>
            <a:pPr indent="0" marL="0">
              <a:buNone/>
            </a:pPr>
            <a:r>
              <a:rPr lang="en-US" sz="1600" dirty="0">
                <a:solidFill>
                  <a:srgbClr val="F0D78C"/>
                </a:solidFill>
                <a:latin typeface="Calibri" pitchFamily="34" charset="0"/>
                <a:ea typeface="Calibri" pitchFamily="34" charset="-122"/>
                <a:cs typeface="Calibri" pitchFamily="34" charset="-120"/>
              </a:rPr>
              <a:t>— And How Harmonia Can Apply Their Recipe</a:t>
            </a:r>
            <a:endParaRPr lang="en-US" sz="1600" dirty="0"/>
          </a:p>
        </p:txBody>
      </p:sp>
      <p:sp>
        <p:nvSpPr>
          <p:cNvPr id="5" name="Shape 3"/>
          <p:cNvSpPr/>
          <p:nvPr/>
        </p:nvSpPr>
        <p:spPr>
          <a:xfrm>
            <a:off x="731520" y="3383280"/>
            <a:ext cx="2286000" cy="27432"/>
          </a:xfrm>
          <a:prstGeom prst="rectangle">
            <a:avLst/>
          </a:prstGeom>
          <a:solidFill>
            <a:srgbClr val="D4A843"/>
          </a:solidFill>
          <a:ln/>
        </p:spPr>
      </p:sp>
      <p:sp>
        <p:nvSpPr>
          <p:cNvPr id="6" name="Text 4"/>
          <p:cNvSpPr/>
          <p:nvPr/>
        </p:nvSpPr>
        <p:spPr>
          <a:xfrm>
            <a:off x="731520" y="3566160"/>
            <a:ext cx="5486400" cy="365760"/>
          </a:xfrm>
          <a:prstGeom prst="rect">
            <a:avLst/>
          </a:prstGeom>
          <a:noFill/>
          <a:ln/>
        </p:spPr>
        <p:txBody>
          <a:bodyPr wrap="square" lIns="0" tIns="0" rIns="0" bIns="0" rtlCol="0" anchor="ctr"/>
          <a:lstStyle/>
          <a:p>
            <a:pPr indent="0" marL="0">
              <a:buNone/>
            </a:pPr>
            <a:r>
              <a:rPr lang="en-US" sz="1200" dirty="0">
                <a:solidFill>
                  <a:srgbClr val="8D95A3"/>
                </a:solidFill>
                <a:latin typeface="Calibri" pitchFamily="34" charset="0"/>
                <a:ea typeface="Calibri" pitchFamily="34" charset="-122"/>
                <a:cs typeface="Calibri" pitchFamily="34" charset="-120"/>
              </a:rPr>
              <a:t>Strategic Analysis  |  February 2026</a:t>
            </a:r>
            <a:endParaRPr lang="en-US" sz="1200" dirty="0"/>
          </a:p>
        </p:txBody>
      </p:sp>
      <p:sp>
        <p:nvSpPr>
          <p:cNvPr id="7" name="Text 5"/>
          <p:cNvSpPr/>
          <p:nvPr/>
        </p:nvSpPr>
        <p:spPr>
          <a:xfrm>
            <a:off x="731520" y="4389120"/>
            <a:ext cx="2743200" cy="365760"/>
          </a:xfrm>
          <a:prstGeom prst="rect">
            <a:avLst/>
          </a:prstGeom>
          <a:noFill/>
          <a:ln/>
        </p:spPr>
        <p:txBody>
          <a:bodyPr wrap="square" lIns="0" tIns="0" rIns="0" bIns="0" rtlCol="0" anchor="ctr"/>
          <a:lstStyle/>
          <a:p>
            <a:pPr indent="0" marL="0">
              <a:buNone/>
            </a:pPr>
            <a:r>
              <a:rPr lang="en-US" sz="1100" b="1" spc="400" kern="0" dirty="0">
                <a:solidFill>
                  <a:srgbClr val="D4A843"/>
                </a:solidFill>
                <a:latin typeface="Calibri" pitchFamily="34" charset="0"/>
                <a:ea typeface="Calibri" pitchFamily="34" charset="-122"/>
                <a:cs typeface="Calibri" pitchFamily="34" charset="-120"/>
              </a:rPr>
              <a:t>HARMONIA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EXECUTIVE SUMMARY</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2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Six Transferable Principles from Owner.com's Outbound Playbook</a:t>
            </a:r>
            <a:endParaRPr lang="en-US" sz="2200" dirty="0"/>
          </a:p>
        </p:txBody>
      </p:sp>
      <p:sp>
        <p:nvSpPr>
          <p:cNvPr id="6" name="Text 4"/>
          <p:cNvSpPr/>
          <p:nvPr/>
        </p:nvSpPr>
        <p:spPr>
          <a:xfrm>
            <a:off x="548640" y="1051560"/>
            <a:ext cx="8046720" cy="731520"/>
          </a:xfrm>
          <a:prstGeom prst="rect">
            <a:avLst/>
          </a:prstGeom>
          <a:noFill/>
          <a:ln/>
        </p:spPr>
        <p:txBody>
          <a:bodyPr wrap="square" lIns="0" tIns="0" rIns="0" bIns="0" rtlCol="0" anchor="ctr"/>
          <a:lstStyle/>
          <a:p>
            <a:pPr indent="0" marL="0">
              <a:buNone/>
            </a:pPr>
            <a:r>
              <a:rPr lang="en-US" sz="1200" dirty="0">
                <a:solidFill>
                  <a:srgbClr val="4A5568"/>
                </a:solidFill>
                <a:latin typeface="Calibri" pitchFamily="34" charset="0"/>
                <a:ea typeface="Calibri" pitchFamily="34" charset="-122"/>
                <a:cs typeface="Calibri" pitchFamily="34" charset="-120"/>
              </a:rPr>
              <a:t>Owner.com grew from $2M to $40M+ ARR by treating outbound as an engineering discipline, not brute force. Their playbook is especially relevant to Harmonia: both operate in fragmented, low-ACV service markets with high call volumes and strong data advantages.</a:t>
            </a:r>
            <a:endParaRPr lang="en-US" sz="1200" dirty="0"/>
          </a:p>
        </p:txBody>
      </p:sp>
      <p:sp>
        <p:nvSpPr>
          <p:cNvPr id="7" name="Shape 5"/>
          <p:cNvSpPr/>
          <p:nvPr/>
        </p:nvSpPr>
        <p:spPr>
          <a:xfrm>
            <a:off x="548640" y="1920240"/>
            <a:ext cx="2514600" cy="13716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8" name="Shape 6"/>
          <p:cNvSpPr/>
          <p:nvPr/>
        </p:nvSpPr>
        <p:spPr>
          <a:xfrm>
            <a:off x="548640" y="1920240"/>
            <a:ext cx="2514600" cy="36576"/>
          </a:xfrm>
          <a:prstGeom prst="rectangle">
            <a:avLst/>
          </a:prstGeom>
          <a:solidFill>
            <a:srgbClr val="D4A843"/>
          </a:solidFill>
          <a:ln/>
        </p:spPr>
      </p:sp>
      <p:pic>
        <p:nvPicPr>
          <p:cNvPr id="9" name="Image 0" descr="preencoded.png">    </p:cNvPr>
          <p:cNvPicPr>
            <a:picLocks noChangeAspect="1"/>
          </p:cNvPicPr>
          <p:nvPr/>
        </p:nvPicPr>
        <p:blipFill>
          <a:blip r:embed="rId1"/>
          <a:stretch>
            <a:fillRect/>
          </a:stretch>
        </p:blipFill>
        <p:spPr>
          <a:xfrm>
            <a:off x="685800" y="2103120"/>
            <a:ext cx="274320" cy="274320"/>
          </a:xfrm>
          <a:prstGeom prst="rect">
            <a:avLst/>
          </a:prstGeom>
        </p:spPr>
      </p:pic>
      <p:sp>
        <p:nvSpPr>
          <p:cNvPr id="10" name="Text 7"/>
          <p:cNvSpPr/>
          <p:nvPr/>
        </p:nvSpPr>
        <p:spPr>
          <a:xfrm>
            <a:off x="1051560" y="2084832"/>
            <a:ext cx="1874520" cy="3200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ML-Powered Lead Scoring</a:t>
            </a:r>
            <a:endParaRPr lang="en-US" sz="1100" dirty="0"/>
          </a:p>
        </p:txBody>
      </p:sp>
      <p:sp>
        <p:nvSpPr>
          <p:cNvPr id="11" name="Text 8"/>
          <p:cNvSpPr/>
          <p:nvPr/>
        </p:nvSpPr>
        <p:spPr>
          <a:xfrm>
            <a:off x="685800" y="2468880"/>
            <a:ext cx="2240280" cy="7315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Score leads with predictive models to focus reps on highest-value prospects</a:t>
            </a:r>
            <a:endParaRPr lang="en-US" sz="950" dirty="0"/>
          </a:p>
        </p:txBody>
      </p:sp>
      <p:sp>
        <p:nvSpPr>
          <p:cNvPr id="12" name="Shape 9"/>
          <p:cNvSpPr/>
          <p:nvPr/>
        </p:nvSpPr>
        <p:spPr>
          <a:xfrm>
            <a:off x="3200400" y="1920240"/>
            <a:ext cx="2514600" cy="13716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3" name="Shape 10"/>
          <p:cNvSpPr/>
          <p:nvPr/>
        </p:nvSpPr>
        <p:spPr>
          <a:xfrm>
            <a:off x="3200400" y="1920240"/>
            <a:ext cx="2514600" cy="36576"/>
          </a:xfrm>
          <a:prstGeom prst="rectangle">
            <a:avLst/>
          </a:prstGeom>
          <a:solidFill>
            <a:srgbClr val="D4A843"/>
          </a:solidFill>
          <a:ln/>
        </p:spPr>
      </p:sp>
      <p:pic>
        <p:nvPicPr>
          <p:cNvPr id="14" name="Image 1" descr="preencoded.png">    </p:cNvPr>
          <p:cNvPicPr>
            <a:picLocks noChangeAspect="1"/>
          </p:cNvPicPr>
          <p:nvPr/>
        </p:nvPicPr>
        <p:blipFill>
          <a:blip r:embed="rId2"/>
          <a:stretch>
            <a:fillRect/>
          </a:stretch>
        </p:blipFill>
        <p:spPr>
          <a:xfrm>
            <a:off x="3337560" y="2103120"/>
            <a:ext cx="274320" cy="274320"/>
          </a:xfrm>
          <a:prstGeom prst="rect">
            <a:avLst/>
          </a:prstGeom>
        </p:spPr>
      </p:pic>
      <p:sp>
        <p:nvSpPr>
          <p:cNvPr id="15" name="Text 11"/>
          <p:cNvSpPr/>
          <p:nvPr/>
        </p:nvSpPr>
        <p:spPr>
          <a:xfrm>
            <a:off x="3703320" y="2084832"/>
            <a:ext cx="1874520" cy="3200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Data Infrastructure First</a:t>
            </a:r>
            <a:endParaRPr lang="en-US" sz="1100" dirty="0"/>
          </a:p>
        </p:txBody>
      </p:sp>
      <p:sp>
        <p:nvSpPr>
          <p:cNvPr id="16" name="Text 12"/>
          <p:cNvSpPr/>
          <p:nvPr/>
        </p:nvSpPr>
        <p:spPr>
          <a:xfrm>
            <a:off x="3337560" y="2468880"/>
            <a:ext cx="2240280" cy="7315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Invest in clean, enriched data before scaling headcount</a:t>
            </a:r>
            <a:endParaRPr lang="en-US" sz="950" dirty="0"/>
          </a:p>
        </p:txBody>
      </p:sp>
      <p:sp>
        <p:nvSpPr>
          <p:cNvPr id="17" name="Shape 13"/>
          <p:cNvSpPr/>
          <p:nvPr/>
        </p:nvSpPr>
        <p:spPr>
          <a:xfrm>
            <a:off x="5852160" y="1920240"/>
            <a:ext cx="2514600" cy="13716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8" name="Shape 14"/>
          <p:cNvSpPr/>
          <p:nvPr/>
        </p:nvSpPr>
        <p:spPr>
          <a:xfrm>
            <a:off x="5852160" y="1920240"/>
            <a:ext cx="2514600" cy="36576"/>
          </a:xfrm>
          <a:prstGeom prst="rectangle">
            <a:avLst/>
          </a:prstGeom>
          <a:solidFill>
            <a:srgbClr val="D4A843"/>
          </a:solidFill>
          <a:ln/>
        </p:spPr>
      </p:sp>
      <p:pic>
        <p:nvPicPr>
          <p:cNvPr id="19" name="Image 2" descr="preencoded.png">    </p:cNvPr>
          <p:cNvPicPr>
            <a:picLocks noChangeAspect="1"/>
          </p:cNvPicPr>
          <p:nvPr/>
        </p:nvPicPr>
        <p:blipFill>
          <a:blip r:embed="rId3"/>
          <a:stretch>
            <a:fillRect/>
          </a:stretch>
        </p:blipFill>
        <p:spPr>
          <a:xfrm>
            <a:off x="5989320" y="2103120"/>
            <a:ext cx="274320" cy="274320"/>
          </a:xfrm>
          <a:prstGeom prst="rect">
            <a:avLst/>
          </a:prstGeom>
        </p:spPr>
      </p:pic>
      <p:sp>
        <p:nvSpPr>
          <p:cNvPr id="20" name="Text 15"/>
          <p:cNvSpPr/>
          <p:nvPr/>
        </p:nvSpPr>
        <p:spPr>
          <a:xfrm>
            <a:off x="6355080" y="2084832"/>
            <a:ext cx="1874520" cy="3200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Eliminate Non-Revenue Work</a:t>
            </a:r>
            <a:endParaRPr lang="en-US" sz="1100" dirty="0"/>
          </a:p>
        </p:txBody>
      </p:sp>
      <p:sp>
        <p:nvSpPr>
          <p:cNvPr id="21" name="Text 16"/>
          <p:cNvSpPr/>
          <p:nvPr/>
        </p:nvSpPr>
        <p:spPr>
          <a:xfrm>
            <a:off x="5989320" y="2468880"/>
            <a:ext cx="2240280" cy="7315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Cut 50% of wasted BDR time with pre-researched, routed accounts</a:t>
            </a:r>
            <a:endParaRPr lang="en-US" sz="950" dirty="0"/>
          </a:p>
        </p:txBody>
      </p:sp>
      <p:sp>
        <p:nvSpPr>
          <p:cNvPr id="22" name="Shape 17"/>
          <p:cNvSpPr/>
          <p:nvPr/>
        </p:nvSpPr>
        <p:spPr>
          <a:xfrm>
            <a:off x="548640" y="3429000"/>
            <a:ext cx="2514600" cy="13716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23" name="Shape 18"/>
          <p:cNvSpPr/>
          <p:nvPr/>
        </p:nvSpPr>
        <p:spPr>
          <a:xfrm>
            <a:off x="548640" y="3429000"/>
            <a:ext cx="2514600" cy="36576"/>
          </a:xfrm>
          <a:prstGeom prst="rectangle">
            <a:avLst/>
          </a:prstGeom>
          <a:solidFill>
            <a:srgbClr val="D4A843"/>
          </a:solidFill>
          <a:ln/>
        </p:spPr>
      </p:sp>
      <p:pic>
        <p:nvPicPr>
          <p:cNvPr id="24" name="Image 3" descr="preencoded.png">    </p:cNvPr>
          <p:cNvPicPr>
            <a:picLocks noChangeAspect="1"/>
          </p:cNvPicPr>
          <p:nvPr/>
        </p:nvPicPr>
        <p:blipFill>
          <a:blip r:embed="rId4"/>
          <a:stretch>
            <a:fillRect/>
          </a:stretch>
        </p:blipFill>
        <p:spPr>
          <a:xfrm>
            <a:off x="685800" y="3611880"/>
            <a:ext cx="274320" cy="274320"/>
          </a:xfrm>
          <a:prstGeom prst="rect">
            <a:avLst/>
          </a:prstGeom>
        </p:spPr>
      </p:pic>
      <p:sp>
        <p:nvSpPr>
          <p:cNvPr id="25" name="Text 19"/>
          <p:cNvSpPr/>
          <p:nvPr/>
        </p:nvSpPr>
        <p:spPr>
          <a:xfrm>
            <a:off x="1051560" y="3593592"/>
            <a:ext cx="1874520" cy="3200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RevOps &amp; Enablement Early</a:t>
            </a:r>
            <a:endParaRPr lang="en-US" sz="1100" dirty="0"/>
          </a:p>
        </p:txBody>
      </p:sp>
      <p:sp>
        <p:nvSpPr>
          <p:cNvPr id="26" name="Text 20"/>
          <p:cNvSpPr/>
          <p:nvPr/>
        </p:nvSpPr>
        <p:spPr>
          <a:xfrm>
            <a:off x="685800" y="3977640"/>
            <a:ext cx="2240280" cy="7315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Build operational backbone at 1:20 ops-to-sales ratio from day one</a:t>
            </a:r>
            <a:endParaRPr lang="en-US" sz="950" dirty="0"/>
          </a:p>
        </p:txBody>
      </p:sp>
      <p:sp>
        <p:nvSpPr>
          <p:cNvPr id="27" name="Shape 21"/>
          <p:cNvSpPr/>
          <p:nvPr/>
        </p:nvSpPr>
        <p:spPr>
          <a:xfrm>
            <a:off x="3200400" y="3429000"/>
            <a:ext cx="2514600" cy="13716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28" name="Shape 22"/>
          <p:cNvSpPr/>
          <p:nvPr/>
        </p:nvSpPr>
        <p:spPr>
          <a:xfrm>
            <a:off x="3200400" y="3429000"/>
            <a:ext cx="2514600" cy="36576"/>
          </a:xfrm>
          <a:prstGeom prst="rectangle">
            <a:avLst/>
          </a:prstGeom>
          <a:solidFill>
            <a:srgbClr val="D4A843"/>
          </a:solidFill>
          <a:ln/>
        </p:spPr>
      </p:sp>
      <p:pic>
        <p:nvPicPr>
          <p:cNvPr id="29" name="Image 4" descr="preencoded.png">    </p:cNvPr>
          <p:cNvPicPr>
            <a:picLocks noChangeAspect="1"/>
          </p:cNvPicPr>
          <p:nvPr/>
        </p:nvPicPr>
        <p:blipFill>
          <a:blip r:embed="rId5"/>
          <a:stretch>
            <a:fillRect/>
          </a:stretch>
        </p:blipFill>
        <p:spPr>
          <a:xfrm>
            <a:off x="3337560" y="3611880"/>
            <a:ext cx="274320" cy="274320"/>
          </a:xfrm>
          <a:prstGeom prst="rect">
            <a:avLst/>
          </a:prstGeom>
        </p:spPr>
      </p:pic>
      <p:sp>
        <p:nvSpPr>
          <p:cNvPr id="30" name="Text 23"/>
          <p:cNvSpPr/>
          <p:nvPr/>
        </p:nvSpPr>
        <p:spPr>
          <a:xfrm>
            <a:off x="3703320" y="3593592"/>
            <a:ext cx="1874520" cy="3200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Hyper-Specialized Teams</a:t>
            </a:r>
            <a:endParaRPr lang="en-US" sz="1100" dirty="0"/>
          </a:p>
        </p:txBody>
      </p:sp>
      <p:sp>
        <p:nvSpPr>
          <p:cNvPr id="31" name="Text 24"/>
          <p:cNvSpPr/>
          <p:nvPr/>
        </p:nvSpPr>
        <p:spPr>
          <a:xfrm>
            <a:off x="3337560" y="3977640"/>
            <a:ext cx="2240280" cy="7315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Separate inbound/outbound; use 2 BDR : 1 AE model for max output</a:t>
            </a:r>
            <a:endParaRPr lang="en-US" sz="950" dirty="0"/>
          </a:p>
        </p:txBody>
      </p:sp>
      <p:sp>
        <p:nvSpPr>
          <p:cNvPr id="32" name="Shape 25"/>
          <p:cNvSpPr/>
          <p:nvPr/>
        </p:nvSpPr>
        <p:spPr>
          <a:xfrm>
            <a:off x="5852160" y="3429000"/>
            <a:ext cx="2514600" cy="13716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33" name="Shape 26"/>
          <p:cNvSpPr/>
          <p:nvPr/>
        </p:nvSpPr>
        <p:spPr>
          <a:xfrm>
            <a:off x="5852160" y="3429000"/>
            <a:ext cx="2514600" cy="36576"/>
          </a:xfrm>
          <a:prstGeom prst="rectangle">
            <a:avLst/>
          </a:prstGeom>
          <a:solidFill>
            <a:srgbClr val="D4A843"/>
          </a:solidFill>
          <a:ln/>
        </p:spPr>
      </p:sp>
      <p:pic>
        <p:nvPicPr>
          <p:cNvPr id="34" name="Image 5" descr="preencoded.png">    </p:cNvPr>
          <p:cNvPicPr>
            <a:picLocks noChangeAspect="1"/>
          </p:cNvPicPr>
          <p:nvPr/>
        </p:nvPicPr>
        <p:blipFill>
          <a:blip r:embed="rId6"/>
          <a:stretch>
            <a:fillRect/>
          </a:stretch>
        </p:blipFill>
        <p:spPr>
          <a:xfrm>
            <a:off x="5989320" y="3611880"/>
            <a:ext cx="274320" cy="274320"/>
          </a:xfrm>
          <a:prstGeom prst="rect">
            <a:avLst/>
          </a:prstGeom>
        </p:spPr>
      </p:pic>
      <p:sp>
        <p:nvSpPr>
          <p:cNvPr id="35" name="Text 27"/>
          <p:cNvSpPr/>
          <p:nvPr/>
        </p:nvSpPr>
        <p:spPr>
          <a:xfrm>
            <a:off x="6355080" y="3593592"/>
            <a:ext cx="1874520" cy="320040"/>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AI-Augmented Tech Stack</a:t>
            </a:r>
            <a:endParaRPr lang="en-US" sz="1100" dirty="0"/>
          </a:p>
        </p:txBody>
      </p:sp>
      <p:sp>
        <p:nvSpPr>
          <p:cNvPr id="36" name="Text 28"/>
          <p:cNvSpPr/>
          <p:nvPr/>
        </p:nvSpPr>
        <p:spPr>
          <a:xfrm>
            <a:off x="5989320" y="3977640"/>
            <a:ext cx="2240280" cy="7315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AI sims for onboarding, call intelligence, and automated CRM entry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CASE STUDY OVERVIEW</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3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Owner.com: From Founder-Led Sales to $40M+ ARR</a:t>
            </a:r>
            <a:endParaRPr lang="en-US" sz="2200" dirty="0"/>
          </a:p>
        </p:txBody>
      </p:sp>
      <p:sp>
        <p:nvSpPr>
          <p:cNvPr id="6" name="Shape 4"/>
          <p:cNvSpPr/>
          <p:nvPr/>
        </p:nvSpPr>
        <p:spPr>
          <a:xfrm>
            <a:off x="548640" y="1188720"/>
            <a:ext cx="1920240" cy="82296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1188720"/>
            <a:ext cx="54864" cy="822960"/>
          </a:xfrm>
          <a:prstGeom prst="rectangle">
            <a:avLst/>
          </a:prstGeom>
          <a:solidFill>
            <a:srgbClr val="D4A843"/>
          </a:solidFill>
          <a:ln/>
        </p:spPr>
      </p:sp>
      <p:sp>
        <p:nvSpPr>
          <p:cNvPr id="8" name="Text 6"/>
          <p:cNvSpPr/>
          <p:nvPr/>
        </p:nvSpPr>
        <p:spPr>
          <a:xfrm>
            <a:off x="685800" y="1280160"/>
            <a:ext cx="1691640" cy="452628"/>
          </a:xfrm>
          <a:prstGeom prst="rect">
            <a:avLst/>
          </a:prstGeom>
          <a:noFill/>
          <a:ln/>
        </p:spPr>
        <p:txBody>
          <a:bodyPr wrap="square" lIns="0" tIns="0" rIns="0" bIns="0" rtlCol="0" anchor="ctr"/>
          <a:lstStyle/>
          <a:p>
            <a:pPr indent="0" marL="0">
              <a:buNone/>
            </a:pPr>
            <a:r>
              <a:rPr lang="en-US" sz="2800" b="1" dirty="0">
                <a:solidFill>
                  <a:srgbClr val="D4A843"/>
                </a:solidFill>
                <a:latin typeface="Georgia" pitchFamily="34" charset="0"/>
                <a:ea typeface="Georgia" pitchFamily="34" charset="-122"/>
                <a:cs typeface="Georgia" pitchFamily="34" charset="-120"/>
              </a:rPr>
              <a:t>$40M+</a:t>
            </a:r>
            <a:endParaRPr lang="en-US" sz="2800" dirty="0"/>
          </a:p>
        </p:txBody>
      </p:sp>
      <p:sp>
        <p:nvSpPr>
          <p:cNvPr id="9" name="Text 7"/>
          <p:cNvSpPr/>
          <p:nvPr/>
        </p:nvSpPr>
        <p:spPr>
          <a:xfrm>
            <a:off x="685800" y="1641348"/>
            <a:ext cx="1691640" cy="32918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ARR (2025)</a:t>
            </a:r>
            <a:endParaRPr lang="en-US" sz="1000" dirty="0"/>
          </a:p>
        </p:txBody>
      </p:sp>
      <p:sp>
        <p:nvSpPr>
          <p:cNvPr id="10" name="Shape 8"/>
          <p:cNvSpPr/>
          <p:nvPr/>
        </p:nvSpPr>
        <p:spPr>
          <a:xfrm>
            <a:off x="548640" y="2148840"/>
            <a:ext cx="1920240" cy="82296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548640" y="2148840"/>
            <a:ext cx="54864" cy="822960"/>
          </a:xfrm>
          <a:prstGeom prst="rectangle">
            <a:avLst/>
          </a:prstGeom>
          <a:solidFill>
            <a:srgbClr val="1A9E8F"/>
          </a:solidFill>
          <a:ln/>
        </p:spPr>
      </p:sp>
      <p:sp>
        <p:nvSpPr>
          <p:cNvPr id="12" name="Text 10"/>
          <p:cNvSpPr/>
          <p:nvPr/>
        </p:nvSpPr>
        <p:spPr>
          <a:xfrm>
            <a:off x="685800" y="2240280"/>
            <a:ext cx="1691640" cy="452628"/>
          </a:xfrm>
          <a:prstGeom prst="rect">
            <a:avLst/>
          </a:prstGeom>
          <a:noFill/>
          <a:ln/>
        </p:spPr>
        <p:txBody>
          <a:bodyPr wrap="square" lIns="0" tIns="0" rIns="0" bIns="0" rtlCol="0" anchor="ctr"/>
          <a:lstStyle/>
          <a:p>
            <a:pPr indent="0" marL="0">
              <a:buNone/>
            </a:pPr>
            <a:r>
              <a:rPr lang="en-US" sz="2800" b="1" dirty="0">
                <a:solidFill>
                  <a:srgbClr val="1A9E8F"/>
                </a:solidFill>
                <a:latin typeface="Georgia" pitchFamily="34" charset="0"/>
                <a:ea typeface="Georgia" pitchFamily="34" charset="-122"/>
                <a:cs typeface="Georgia" pitchFamily="34" charset="-120"/>
              </a:rPr>
              <a:t>~3x</a:t>
            </a:r>
            <a:endParaRPr lang="en-US" sz="2800" dirty="0"/>
          </a:p>
        </p:txBody>
      </p:sp>
      <p:sp>
        <p:nvSpPr>
          <p:cNvPr id="13" name="Text 11"/>
          <p:cNvSpPr/>
          <p:nvPr/>
        </p:nvSpPr>
        <p:spPr>
          <a:xfrm>
            <a:off x="685800" y="2601468"/>
            <a:ext cx="1691640" cy="32918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YoY Growth</a:t>
            </a:r>
            <a:endParaRPr lang="en-US" sz="1000" dirty="0"/>
          </a:p>
        </p:txBody>
      </p:sp>
      <p:sp>
        <p:nvSpPr>
          <p:cNvPr id="14" name="Shape 12"/>
          <p:cNvSpPr/>
          <p:nvPr/>
        </p:nvSpPr>
        <p:spPr>
          <a:xfrm>
            <a:off x="548640" y="3108960"/>
            <a:ext cx="1920240" cy="82296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5" name="Shape 13"/>
          <p:cNvSpPr/>
          <p:nvPr/>
        </p:nvSpPr>
        <p:spPr>
          <a:xfrm>
            <a:off x="548640" y="3108960"/>
            <a:ext cx="54864" cy="822960"/>
          </a:xfrm>
          <a:prstGeom prst="rectangle">
            <a:avLst/>
          </a:prstGeom>
          <a:solidFill>
            <a:srgbClr val="3B82F6"/>
          </a:solidFill>
          <a:ln/>
        </p:spPr>
      </p:sp>
      <p:sp>
        <p:nvSpPr>
          <p:cNvPr id="16" name="Text 14"/>
          <p:cNvSpPr/>
          <p:nvPr/>
        </p:nvSpPr>
        <p:spPr>
          <a:xfrm>
            <a:off x="685800" y="3200400"/>
            <a:ext cx="1691640" cy="452628"/>
          </a:xfrm>
          <a:prstGeom prst="rect">
            <a:avLst/>
          </a:prstGeom>
          <a:noFill/>
          <a:ln/>
        </p:spPr>
        <p:txBody>
          <a:bodyPr wrap="square" lIns="0" tIns="0" rIns="0" bIns="0" rtlCol="0" anchor="ctr"/>
          <a:lstStyle/>
          <a:p>
            <a:pPr indent="0" marL="0">
              <a:buNone/>
            </a:pPr>
            <a:r>
              <a:rPr lang="en-US" sz="2800" b="1" dirty="0">
                <a:solidFill>
                  <a:srgbClr val="3B82F6"/>
                </a:solidFill>
                <a:latin typeface="Georgia" pitchFamily="34" charset="0"/>
                <a:ea typeface="Georgia" pitchFamily="34" charset="-122"/>
                <a:cs typeface="Georgia" pitchFamily="34" charset="-120"/>
              </a:rPr>
              <a:t>$72K</a:t>
            </a:r>
            <a:endParaRPr lang="en-US" sz="2800" dirty="0"/>
          </a:p>
        </p:txBody>
      </p:sp>
      <p:sp>
        <p:nvSpPr>
          <p:cNvPr id="17" name="Text 15"/>
          <p:cNvSpPr/>
          <p:nvPr/>
        </p:nvSpPr>
        <p:spPr>
          <a:xfrm>
            <a:off x="685800" y="3561588"/>
            <a:ext cx="1691640" cy="32918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ARR per BDR/month</a:t>
            </a:r>
            <a:endParaRPr lang="en-US" sz="1000" dirty="0"/>
          </a:p>
        </p:txBody>
      </p:sp>
      <p:sp>
        <p:nvSpPr>
          <p:cNvPr id="18" name="Shape 16"/>
          <p:cNvSpPr/>
          <p:nvPr/>
        </p:nvSpPr>
        <p:spPr>
          <a:xfrm>
            <a:off x="548640" y="4069080"/>
            <a:ext cx="1920240" cy="82296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548640" y="4069080"/>
            <a:ext cx="54864" cy="822960"/>
          </a:xfrm>
          <a:prstGeom prst="rectangle">
            <a:avLst/>
          </a:prstGeom>
          <a:solidFill>
            <a:srgbClr val="E85D4A"/>
          </a:solidFill>
          <a:ln/>
        </p:spPr>
      </p:sp>
      <p:sp>
        <p:nvSpPr>
          <p:cNvPr id="20" name="Text 18"/>
          <p:cNvSpPr/>
          <p:nvPr/>
        </p:nvSpPr>
        <p:spPr>
          <a:xfrm>
            <a:off x="685800" y="4160520"/>
            <a:ext cx="1691640" cy="452628"/>
          </a:xfrm>
          <a:prstGeom prst="rect">
            <a:avLst/>
          </a:prstGeom>
          <a:noFill/>
          <a:ln/>
        </p:spPr>
        <p:txBody>
          <a:bodyPr wrap="square" lIns="0" tIns="0" rIns="0" bIns="0" rtlCol="0" anchor="ctr"/>
          <a:lstStyle/>
          <a:p>
            <a:pPr indent="0" marL="0">
              <a:buNone/>
            </a:pPr>
            <a:r>
              <a:rPr lang="en-US" sz="2800" b="1" dirty="0">
                <a:solidFill>
                  <a:srgbClr val="E85D4A"/>
                </a:solidFill>
                <a:latin typeface="Georgia" pitchFamily="34" charset="0"/>
                <a:ea typeface="Georgia" pitchFamily="34" charset="-122"/>
                <a:cs typeface="Georgia" pitchFamily="34" charset="-120"/>
              </a:rPr>
              <a:t>0.13</a:t>
            </a:r>
            <a:endParaRPr lang="en-US" sz="2800" dirty="0"/>
          </a:p>
        </p:txBody>
      </p:sp>
      <p:sp>
        <p:nvSpPr>
          <p:cNvPr id="21" name="Text 19"/>
          <p:cNvSpPr/>
          <p:nvPr/>
        </p:nvSpPr>
        <p:spPr>
          <a:xfrm>
            <a:off x="685800" y="4521708"/>
            <a:ext cx="1691640" cy="329184"/>
          </a:xfrm>
          <a:prstGeom prst="rect">
            <a:avLst/>
          </a:prstGeom>
          <a:noFill/>
          <a:ln/>
        </p:spPr>
        <p:txBody>
          <a:bodyPr wrap="square" lIns="0" tIns="0" rIns="0" bIns="0" rtlCol="0" anchor="t"/>
          <a:lstStyle/>
          <a:p>
            <a:pPr indent="0" marL="0">
              <a:buNone/>
            </a:pPr>
            <a:r>
              <a:rPr lang="en-US" sz="1000" dirty="0">
                <a:solidFill>
                  <a:srgbClr val="4A5568"/>
                </a:solidFill>
                <a:latin typeface="Calibri" pitchFamily="34" charset="0"/>
                <a:ea typeface="Calibri" pitchFamily="34" charset="-122"/>
                <a:cs typeface="Calibri" pitchFamily="34" charset="-120"/>
              </a:rPr>
              <a:t>CAC Ratio</a:t>
            </a:r>
            <a:endParaRPr lang="en-US" sz="1000" dirty="0"/>
          </a:p>
        </p:txBody>
      </p:sp>
      <p:sp>
        <p:nvSpPr>
          <p:cNvPr id="22" name="Shape 20"/>
          <p:cNvSpPr/>
          <p:nvPr/>
        </p:nvSpPr>
        <p:spPr>
          <a:xfrm>
            <a:off x="2834640" y="1188720"/>
            <a:ext cx="5852160" cy="164592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23" name="Text 21"/>
          <p:cNvSpPr/>
          <p:nvPr/>
        </p:nvSpPr>
        <p:spPr>
          <a:xfrm>
            <a:off x="3017520" y="1280160"/>
            <a:ext cx="27432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Company Snapshot</a:t>
            </a:r>
            <a:endParaRPr lang="en-US" sz="1300" dirty="0"/>
          </a:p>
        </p:txBody>
      </p:sp>
      <p:sp>
        <p:nvSpPr>
          <p:cNvPr id="24" name="Text 22"/>
          <p:cNvSpPr/>
          <p:nvPr/>
        </p:nvSpPr>
        <p:spPr>
          <a:xfrm>
            <a:off x="3017520" y="1645920"/>
            <a:ext cx="5486400" cy="1097280"/>
          </a:xfrm>
          <a:prstGeom prst="rect">
            <a:avLst/>
          </a:prstGeom>
          <a:noFill/>
          <a:ln/>
        </p:spPr>
        <p:txBody>
          <a:bodyPr wrap="square" lIns="0" tIns="0" rIns="0" bIns="0" rtlCol="0" anchor="ctr"/>
          <a:lstStyle/>
          <a:p>
            <a:pPr indent="0" marL="0">
              <a:spcAft>
                <a:spcPts val="400"/>
              </a:spcAft>
              <a:buNone/>
            </a:pPr>
            <a:r>
              <a:rPr lang="en-US" sz="1100" b="1" dirty="0">
                <a:solidFill>
                  <a:srgbClr val="4A5568"/>
                </a:solidFill>
                <a:latin typeface="Calibri" pitchFamily="34" charset="0"/>
                <a:ea typeface="Calibri" pitchFamily="34" charset="-122"/>
                <a:cs typeface="Calibri" pitchFamily="34" charset="-120"/>
              </a:rPr>
              <a:t>Founded: </a:t>
            </a:r>
            <a:pPr indent="0" marL="0">
              <a:spcAft>
                <a:spcPts val="400"/>
              </a:spcAft>
              <a:buNone/>
            </a:pPr>
            <a:r>
              <a:rPr lang="en-US" sz="1100" dirty="0">
                <a:solidFill>
                  <a:srgbClr val="4A5568"/>
                </a:solidFill>
                <a:latin typeface="Calibri" pitchFamily="34" charset="0"/>
                <a:ea typeface="Calibri" pitchFamily="34" charset="-122"/>
                <a:cs typeface="Calibri" pitchFamily="34" charset="-120"/>
              </a:rPr>
              <a:t>2018  (Shopify for restaurants)</a:t>
            </a:r>
            <a:endParaRPr lang="en-US" sz="1100" dirty="0"/>
          </a:p>
          <a:p>
            <a:pPr indent="0" marL="0">
              <a:spcAft>
                <a:spcPts val="400"/>
              </a:spcAft>
              <a:buNone/>
            </a:pPr>
            <a:r>
              <a:rPr lang="en-US" sz="1100" b="1" dirty="0">
                <a:solidFill>
                  <a:srgbClr val="4A5568"/>
                </a:solidFill>
                <a:latin typeface="Calibri" pitchFamily="34" charset="0"/>
                <a:ea typeface="Calibri" pitchFamily="34" charset="-122"/>
                <a:cs typeface="Calibri" pitchFamily="34" charset="-120"/>
              </a:rPr>
              <a:t>Funding: </a:t>
            </a:r>
            <a:pPr indent="0" marL="0">
              <a:spcAft>
                <a:spcPts val="400"/>
              </a:spcAft>
              <a:buNone/>
            </a:pPr>
            <a:r>
              <a:rPr lang="en-US" sz="1100" dirty="0">
                <a:solidFill>
                  <a:srgbClr val="4A5568"/>
                </a:solidFill>
                <a:latin typeface="Calibri" pitchFamily="34" charset="0"/>
                <a:ea typeface="Calibri" pitchFamily="34" charset="-122"/>
                <a:cs typeface="Calibri" pitchFamily="34" charset="-120"/>
              </a:rPr>
              <a:t>$179M raised, $1B valuation (Series C)</a:t>
            </a:r>
            <a:endParaRPr lang="en-US" sz="1100" dirty="0"/>
          </a:p>
          <a:p>
            <a:pPr indent="0" marL="0">
              <a:spcAft>
                <a:spcPts val="400"/>
              </a:spcAft>
              <a:buNone/>
            </a:pPr>
            <a:r>
              <a:rPr lang="en-US" sz="1100" b="1" dirty="0">
                <a:solidFill>
                  <a:srgbClr val="4A5568"/>
                </a:solidFill>
                <a:latin typeface="Calibri" pitchFamily="34" charset="0"/>
                <a:ea typeface="Calibri" pitchFamily="34" charset="-122"/>
                <a:cs typeface="Calibri" pitchFamily="34" charset="-120"/>
              </a:rPr>
              <a:t>ACV: </a:t>
            </a:r>
            <a:pPr indent="0" marL="0">
              <a:spcAft>
                <a:spcPts val="400"/>
              </a:spcAft>
              <a:buNone/>
            </a:pPr>
            <a:r>
              <a:rPr lang="en-US" sz="1100" dirty="0">
                <a:solidFill>
                  <a:srgbClr val="4A5568"/>
                </a:solidFill>
                <a:latin typeface="Calibri" pitchFamily="34" charset="0"/>
                <a:ea typeface="Calibri" pitchFamily="34" charset="-122"/>
                <a:cs typeface="Calibri" pitchFamily="34" charset="-120"/>
              </a:rPr>
              <a:t>$6K-$9K  |  Sales Cycle: 1-7 days</a:t>
            </a:r>
            <a:endParaRPr lang="en-US" sz="1100" dirty="0"/>
          </a:p>
          <a:p>
            <a:pPr indent="0" marL="0">
              <a:spcAft>
                <a:spcPts val="400"/>
              </a:spcAft>
              <a:buNone/>
            </a:pPr>
            <a:r>
              <a:rPr lang="en-US" sz="1100" b="1" dirty="0">
                <a:solidFill>
                  <a:srgbClr val="4A5568"/>
                </a:solidFill>
                <a:latin typeface="Calibri" pitchFamily="34" charset="0"/>
                <a:ea typeface="Calibri" pitchFamily="34" charset="-122"/>
                <a:cs typeface="Calibri" pitchFamily="34" charset="-120"/>
              </a:rPr>
              <a:t>Team: </a:t>
            </a:r>
            <a:pPr indent="0" marL="0">
              <a:spcAft>
                <a:spcPts val="400"/>
              </a:spcAft>
              <a:buNone/>
            </a:pPr>
            <a:r>
              <a:rPr lang="en-US" sz="1100" dirty="0">
                <a:solidFill>
                  <a:srgbClr val="4A5568"/>
                </a:solidFill>
                <a:latin typeface="Calibri" pitchFamily="34" charset="0"/>
                <a:ea typeface="Calibri" pitchFamily="34" charset="-122"/>
                <a:cs typeface="Calibri" pitchFamily="34" charset="-120"/>
              </a:rPr>
              <a:t>60 GTM reps (scaled from 4 since 2022)</a:t>
            </a:r>
            <a:endParaRPr lang="en-US" sz="1100" dirty="0"/>
          </a:p>
        </p:txBody>
      </p:sp>
      <p:sp>
        <p:nvSpPr>
          <p:cNvPr id="25" name="Shape 23"/>
          <p:cNvSpPr/>
          <p:nvPr/>
        </p:nvSpPr>
        <p:spPr>
          <a:xfrm>
            <a:off x="2834640" y="3017520"/>
            <a:ext cx="5852160" cy="18288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26" name="Text 24"/>
          <p:cNvSpPr/>
          <p:nvPr/>
        </p:nvSpPr>
        <p:spPr>
          <a:xfrm>
            <a:off x="3017520" y="3108960"/>
            <a:ext cx="2743200" cy="32004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GTM Evolution</a:t>
            </a:r>
            <a:endParaRPr lang="en-US" sz="1300" dirty="0"/>
          </a:p>
        </p:txBody>
      </p:sp>
      <p:sp>
        <p:nvSpPr>
          <p:cNvPr id="27" name="Shape 25"/>
          <p:cNvSpPr/>
          <p:nvPr/>
        </p:nvSpPr>
        <p:spPr>
          <a:xfrm>
            <a:off x="3108960" y="3557016"/>
            <a:ext cx="109728" cy="109728"/>
          </a:xfrm>
          <a:prstGeom prst="oval">
            <a:avLst/>
          </a:prstGeom>
          <a:solidFill>
            <a:srgbClr val="1B2A4A"/>
          </a:solidFill>
          <a:ln/>
        </p:spPr>
      </p:sp>
      <p:sp>
        <p:nvSpPr>
          <p:cNvPr id="28" name="Shape 26"/>
          <p:cNvSpPr/>
          <p:nvPr/>
        </p:nvSpPr>
        <p:spPr>
          <a:xfrm>
            <a:off x="3145536" y="3666744"/>
            <a:ext cx="18288" cy="146304"/>
          </a:xfrm>
          <a:prstGeom prst="rectangle">
            <a:avLst/>
          </a:prstGeom>
          <a:solidFill>
            <a:srgbClr val="E2E5EB"/>
          </a:solidFill>
          <a:ln/>
        </p:spPr>
      </p:sp>
      <p:sp>
        <p:nvSpPr>
          <p:cNvPr id="29" name="Text 27"/>
          <p:cNvSpPr/>
          <p:nvPr/>
        </p:nvSpPr>
        <p:spPr>
          <a:xfrm>
            <a:off x="3337560" y="3502152"/>
            <a:ext cx="731520" cy="201168"/>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2018-22</a:t>
            </a:r>
            <a:endParaRPr lang="en-US" sz="900" dirty="0"/>
          </a:p>
        </p:txBody>
      </p:sp>
      <p:sp>
        <p:nvSpPr>
          <p:cNvPr id="30" name="Text 28"/>
          <p:cNvSpPr/>
          <p:nvPr/>
        </p:nvSpPr>
        <p:spPr>
          <a:xfrm>
            <a:off x="4114800" y="3502152"/>
            <a:ext cx="4389120"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Founder-led sales, pivot from ProfitBoss to Owner.com</a:t>
            </a:r>
            <a:endParaRPr lang="en-US" sz="900" dirty="0"/>
          </a:p>
        </p:txBody>
      </p:sp>
      <p:sp>
        <p:nvSpPr>
          <p:cNvPr id="31" name="Shape 29"/>
          <p:cNvSpPr/>
          <p:nvPr/>
        </p:nvSpPr>
        <p:spPr>
          <a:xfrm>
            <a:off x="3108960" y="3813048"/>
            <a:ext cx="109728" cy="109728"/>
          </a:xfrm>
          <a:prstGeom prst="oval">
            <a:avLst/>
          </a:prstGeom>
          <a:solidFill>
            <a:srgbClr val="1B2A4A"/>
          </a:solidFill>
          <a:ln/>
        </p:spPr>
      </p:sp>
      <p:sp>
        <p:nvSpPr>
          <p:cNvPr id="32" name="Shape 30"/>
          <p:cNvSpPr/>
          <p:nvPr/>
        </p:nvSpPr>
        <p:spPr>
          <a:xfrm>
            <a:off x="3145536" y="3922776"/>
            <a:ext cx="18288" cy="146304"/>
          </a:xfrm>
          <a:prstGeom prst="rectangle">
            <a:avLst/>
          </a:prstGeom>
          <a:solidFill>
            <a:srgbClr val="E2E5EB"/>
          </a:solidFill>
          <a:ln/>
        </p:spPr>
      </p:sp>
      <p:sp>
        <p:nvSpPr>
          <p:cNvPr id="33" name="Text 31"/>
          <p:cNvSpPr/>
          <p:nvPr/>
        </p:nvSpPr>
        <p:spPr>
          <a:xfrm>
            <a:off x="3337560" y="3758184"/>
            <a:ext cx="731520" cy="201168"/>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2022</a:t>
            </a:r>
            <a:endParaRPr lang="en-US" sz="900" dirty="0"/>
          </a:p>
        </p:txBody>
      </p:sp>
      <p:sp>
        <p:nvSpPr>
          <p:cNvPr id="34" name="Text 32"/>
          <p:cNvSpPr/>
          <p:nvPr/>
        </p:nvSpPr>
        <p:spPr>
          <a:xfrm>
            <a:off x="4114800" y="3758184"/>
            <a:ext cx="4389120"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Kyle Norton (CRO) joins at $2M ARR, rebuilds team</a:t>
            </a:r>
            <a:endParaRPr lang="en-US" sz="900" dirty="0"/>
          </a:p>
        </p:txBody>
      </p:sp>
      <p:sp>
        <p:nvSpPr>
          <p:cNvPr id="35" name="Shape 33"/>
          <p:cNvSpPr/>
          <p:nvPr/>
        </p:nvSpPr>
        <p:spPr>
          <a:xfrm>
            <a:off x="3108960" y="4069080"/>
            <a:ext cx="109728" cy="109728"/>
          </a:xfrm>
          <a:prstGeom prst="oval">
            <a:avLst/>
          </a:prstGeom>
          <a:solidFill>
            <a:srgbClr val="1B2A4A"/>
          </a:solidFill>
          <a:ln/>
        </p:spPr>
      </p:sp>
      <p:sp>
        <p:nvSpPr>
          <p:cNvPr id="36" name="Shape 34"/>
          <p:cNvSpPr/>
          <p:nvPr/>
        </p:nvSpPr>
        <p:spPr>
          <a:xfrm>
            <a:off x="3145536" y="4178808"/>
            <a:ext cx="18288" cy="146304"/>
          </a:xfrm>
          <a:prstGeom prst="rectangle">
            <a:avLst/>
          </a:prstGeom>
          <a:solidFill>
            <a:srgbClr val="E2E5EB"/>
          </a:solidFill>
          <a:ln/>
        </p:spPr>
      </p:sp>
      <p:sp>
        <p:nvSpPr>
          <p:cNvPr id="37" name="Text 35"/>
          <p:cNvSpPr/>
          <p:nvPr/>
        </p:nvSpPr>
        <p:spPr>
          <a:xfrm>
            <a:off x="3337560" y="4014216"/>
            <a:ext cx="731520" cy="201168"/>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End '22</a:t>
            </a:r>
            <a:endParaRPr lang="en-US" sz="900" dirty="0"/>
          </a:p>
        </p:txBody>
      </p:sp>
      <p:sp>
        <p:nvSpPr>
          <p:cNvPr id="38" name="Text 36"/>
          <p:cNvSpPr/>
          <p:nvPr/>
        </p:nvSpPr>
        <p:spPr>
          <a:xfrm>
            <a:off x="4114800" y="4014216"/>
            <a:ext cx="4389120"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SDR pilot: 1-2 BDRs testing outbound</a:t>
            </a:r>
            <a:endParaRPr lang="en-US" sz="900" dirty="0"/>
          </a:p>
        </p:txBody>
      </p:sp>
      <p:sp>
        <p:nvSpPr>
          <p:cNvPr id="39" name="Shape 37"/>
          <p:cNvSpPr/>
          <p:nvPr/>
        </p:nvSpPr>
        <p:spPr>
          <a:xfrm>
            <a:off x="3108960" y="4325112"/>
            <a:ext cx="109728" cy="109728"/>
          </a:xfrm>
          <a:prstGeom prst="oval">
            <a:avLst/>
          </a:prstGeom>
          <a:solidFill>
            <a:srgbClr val="1B2A4A"/>
          </a:solidFill>
          <a:ln/>
        </p:spPr>
      </p:sp>
      <p:sp>
        <p:nvSpPr>
          <p:cNvPr id="40" name="Shape 38"/>
          <p:cNvSpPr/>
          <p:nvPr/>
        </p:nvSpPr>
        <p:spPr>
          <a:xfrm>
            <a:off x="3145536" y="4434840"/>
            <a:ext cx="18288" cy="146304"/>
          </a:xfrm>
          <a:prstGeom prst="rectangle">
            <a:avLst/>
          </a:prstGeom>
          <a:solidFill>
            <a:srgbClr val="E2E5EB"/>
          </a:solidFill>
          <a:ln/>
        </p:spPr>
      </p:sp>
      <p:sp>
        <p:nvSpPr>
          <p:cNvPr id="41" name="Text 39"/>
          <p:cNvSpPr/>
          <p:nvPr/>
        </p:nvSpPr>
        <p:spPr>
          <a:xfrm>
            <a:off x="3337560" y="4270248"/>
            <a:ext cx="731520" cy="201168"/>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2023</a:t>
            </a:r>
            <a:endParaRPr lang="en-US" sz="900" dirty="0"/>
          </a:p>
        </p:txBody>
      </p:sp>
      <p:sp>
        <p:nvSpPr>
          <p:cNvPr id="42" name="Text 40"/>
          <p:cNvSpPr/>
          <p:nvPr/>
        </p:nvSpPr>
        <p:spPr>
          <a:xfrm>
            <a:off x="4114800" y="4270248"/>
            <a:ext cx="4389120"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Scaled to 10-12 BDRs, outbound = 79% of new ARR</a:t>
            </a:r>
            <a:endParaRPr lang="en-US" sz="900" dirty="0"/>
          </a:p>
        </p:txBody>
      </p:sp>
      <p:sp>
        <p:nvSpPr>
          <p:cNvPr id="43" name="Shape 41"/>
          <p:cNvSpPr/>
          <p:nvPr/>
        </p:nvSpPr>
        <p:spPr>
          <a:xfrm>
            <a:off x="3108960" y="4581144"/>
            <a:ext cx="109728" cy="109728"/>
          </a:xfrm>
          <a:prstGeom prst="oval">
            <a:avLst/>
          </a:prstGeom>
          <a:solidFill>
            <a:srgbClr val="D4A843"/>
          </a:solidFill>
          <a:ln/>
        </p:spPr>
      </p:sp>
      <p:sp>
        <p:nvSpPr>
          <p:cNvPr id="44" name="Text 42"/>
          <p:cNvSpPr/>
          <p:nvPr/>
        </p:nvSpPr>
        <p:spPr>
          <a:xfrm>
            <a:off x="3337560" y="4526280"/>
            <a:ext cx="731520" cy="201168"/>
          </a:xfrm>
          <a:prstGeom prst="rect">
            <a:avLst/>
          </a:prstGeom>
          <a:noFill/>
          <a:ln/>
        </p:spPr>
        <p:txBody>
          <a:bodyPr wrap="square" lIns="0" tIns="0" rIns="0" bIns="0" rtlCol="0" anchor="ctr"/>
          <a:lstStyle/>
          <a:p>
            <a:pPr indent="0" marL="0">
              <a:buNone/>
            </a:pPr>
            <a:r>
              <a:rPr lang="en-US" sz="900" b="1" dirty="0">
                <a:solidFill>
                  <a:srgbClr val="1B2A4A"/>
                </a:solidFill>
                <a:latin typeface="Calibri" pitchFamily="34" charset="0"/>
                <a:ea typeface="Calibri" pitchFamily="34" charset="-122"/>
                <a:cs typeface="Calibri" pitchFamily="34" charset="-120"/>
              </a:rPr>
              <a:t>2024-25</a:t>
            </a:r>
            <a:endParaRPr lang="en-US" sz="900" dirty="0"/>
          </a:p>
        </p:txBody>
      </p:sp>
      <p:sp>
        <p:nvSpPr>
          <p:cNvPr id="45" name="Text 43"/>
          <p:cNvSpPr/>
          <p:nvPr/>
        </p:nvSpPr>
        <p:spPr>
          <a:xfrm>
            <a:off x="4114800" y="4526280"/>
            <a:ext cx="4389120" cy="201168"/>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20+ BDRs, 60 reps, ~$40M ARR, Toronto office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OPPORTUNITY 1</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4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ML-Powered Lead Scoring: Target the Right Accounts</a:t>
            </a:r>
            <a:endParaRPr lang="en-US" sz="2200" dirty="0"/>
          </a:p>
        </p:txBody>
      </p:sp>
      <p:sp>
        <p:nvSpPr>
          <p:cNvPr id="6" name="Shape 4"/>
          <p:cNvSpPr/>
          <p:nvPr/>
        </p:nvSpPr>
        <p:spPr>
          <a:xfrm>
            <a:off x="548640" y="1188720"/>
            <a:ext cx="3931920" cy="347472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1188720"/>
            <a:ext cx="3931920" cy="36576"/>
          </a:xfrm>
          <a:prstGeom prst="rectangle">
            <a:avLst/>
          </a:prstGeom>
          <a:solidFill>
            <a:srgbClr val="1B2A4A"/>
          </a:solidFill>
          <a:ln/>
        </p:spPr>
      </p:sp>
      <p:sp>
        <p:nvSpPr>
          <p:cNvPr id="8" name="Text 6"/>
          <p:cNvSpPr/>
          <p:nvPr/>
        </p:nvSpPr>
        <p:spPr>
          <a:xfrm>
            <a:off x="731520" y="1325880"/>
            <a:ext cx="3657600" cy="274320"/>
          </a:xfrm>
          <a:prstGeom prst="rect">
            <a:avLst/>
          </a:prstGeom>
          <a:noFill/>
          <a:ln/>
        </p:spPr>
        <p:txBody>
          <a:bodyPr wrap="square" lIns="0" tIns="0" rIns="0" bIns="0" rtlCol="0" anchor="ctr"/>
          <a:lstStyle/>
          <a:p>
            <a:pPr indent="0" marL="0">
              <a:buNone/>
            </a:pPr>
            <a:r>
              <a:rPr lang="en-US" sz="1000" b="1" spc="200" kern="0" dirty="0">
                <a:solidFill>
                  <a:srgbClr val="1B2A4A"/>
                </a:solidFill>
                <a:latin typeface="Calibri" pitchFamily="34" charset="0"/>
                <a:ea typeface="Calibri" pitchFamily="34" charset="-122"/>
                <a:cs typeface="Calibri" pitchFamily="34" charset="-120"/>
              </a:rPr>
              <a:t>WHAT OWNER.COM DID</a:t>
            </a:r>
            <a:endParaRPr lang="en-US" sz="1000" dirty="0"/>
          </a:p>
        </p:txBody>
      </p:sp>
      <p:sp>
        <p:nvSpPr>
          <p:cNvPr id="9" name="Text 7"/>
          <p:cNvSpPr/>
          <p:nvPr/>
        </p:nvSpPr>
        <p:spPr>
          <a:xfrm>
            <a:off x="731520" y="1691640"/>
            <a:ext cx="3566160" cy="274320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4A5568"/>
                </a:solidFill>
                <a:latin typeface="Calibri" pitchFamily="34" charset="0"/>
                <a:ea typeface="Calibri" pitchFamily="34" charset="-122"/>
                <a:cs typeface="Calibri" pitchFamily="34" charset="-120"/>
              </a:rPr>
              <a:t>Scraped 500K restaurant accounts</a:t>
            </a:r>
            <a:endParaRPr lang="en-US" sz="1050" dirty="0"/>
          </a:p>
          <a:p>
            <a:pPr marL="342900" indent="-342900">
              <a:spcAft>
                <a:spcPts val="400"/>
              </a:spcAft>
              <a:buSzPct val="100000"/>
              <a:buChar char="•"/>
            </a:pPr>
            <a:r>
              <a:rPr lang="en-US" sz="1050" dirty="0">
                <a:solidFill>
                  <a:srgbClr val="4A5568"/>
                </a:solidFill>
                <a:latin typeface="Calibri" pitchFamily="34" charset="0"/>
                <a:ea typeface="Calibri" pitchFamily="34" charset="-122"/>
                <a:cs typeface="Calibri" pitchFamily="34" charset="-120"/>
              </a:rPr>
              <a:t>Ran ML models to narrow to 30K high-potential targets</a:t>
            </a:r>
            <a:endParaRPr lang="en-US" sz="1050" dirty="0"/>
          </a:p>
          <a:p>
            <a:pPr marL="342900" indent="-342900">
              <a:spcAft>
                <a:spcPts val="400"/>
              </a:spcAft>
              <a:buSzPct val="100000"/>
              <a:buChar char="•"/>
            </a:pPr>
            <a:r>
              <a:rPr lang="en-US" sz="1050" dirty="0">
                <a:solidFill>
                  <a:srgbClr val="4A5568"/>
                </a:solidFill>
                <a:latin typeface="Calibri" pitchFamily="34" charset="0"/>
                <a:ea typeface="Calibri" pitchFamily="34" charset="-122"/>
                <a:cs typeface="Calibri" pitchFamily="34" charset="-120"/>
              </a:rPr>
              <a:t>Two scores per account:</a:t>
            </a:r>
            <a:endParaRPr lang="en-US" sz="1050" dirty="0"/>
          </a:p>
          <a:p>
            <a:pPr lvl="1" marL="685800" indent="-342900">
              <a:spcAft>
                <a:spcPts val="400"/>
              </a:spcAft>
              <a:buSzPct val="100000"/>
              <a:buChar char="•"/>
            </a:pPr>
            <a:r>
              <a:rPr lang="en-US" sz="1050" dirty="0">
                <a:solidFill>
                  <a:srgbClr val="4A5568"/>
                </a:solidFill>
                <a:latin typeface="Calibri" pitchFamily="34" charset="0"/>
                <a:ea typeface="Calibri" pitchFamily="34" charset="-122"/>
                <a:cs typeface="Calibri" pitchFamily="34" charset="-120"/>
              </a:rPr>
              <a:t>Expected GMV (revenue potential)</a:t>
            </a:r>
            <a:endParaRPr lang="en-US" sz="1050" dirty="0"/>
          </a:p>
          <a:p>
            <a:pPr lvl="1" marL="685800" indent="-342900">
              <a:spcAft>
                <a:spcPts val="400"/>
              </a:spcAft>
              <a:buSzPct val="100000"/>
              <a:buChar char="•"/>
            </a:pPr>
            <a:r>
              <a:rPr lang="en-US" sz="1050" dirty="0">
                <a:solidFill>
                  <a:srgbClr val="4A5568"/>
                </a:solidFill>
                <a:latin typeface="Calibri" pitchFamily="34" charset="0"/>
                <a:ea typeface="Calibri" pitchFamily="34" charset="-122"/>
                <a:cs typeface="Calibri" pitchFamily="34" charset="-120"/>
              </a:rPr>
              <a:t>E-Win Rate (likelihood to close)</a:t>
            </a:r>
            <a:endParaRPr lang="en-US" sz="1050" dirty="0"/>
          </a:p>
          <a:p>
            <a:pPr marL="342900" indent="-342900">
              <a:spcAft>
                <a:spcPts val="400"/>
              </a:spcAft>
              <a:buSzPct val="100000"/>
              <a:buChar char="•"/>
            </a:pPr>
            <a:r>
              <a:rPr lang="en-US" sz="1050" dirty="0">
                <a:solidFill>
                  <a:srgbClr val="4A5568"/>
                </a:solidFill>
                <a:latin typeface="Calibri" pitchFamily="34" charset="0"/>
                <a:ea typeface="Calibri" pitchFamily="34" charset="-122"/>
                <a:cs typeface="Calibri" pitchFamily="34" charset="-120"/>
              </a:rPr>
              <a:t>Data signals: online reviews, 3rd-party order volume, SEO presence, tech adoption</a:t>
            </a:r>
            <a:endParaRPr lang="en-US" sz="1050" dirty="0"/>
          </a:p>
          <a:p>
            <a:pPr marL="342900" indent="-342900">
              <a:spcAft>
                <a:spcPts val="400"/>
              </a:spcAft>
              <a:buSzPct val="100000"/>
              <a:buChar char="•"/>
            </a:pPr>
            <a:r>
              <a:rPr lang="en-US" sz="1050" dirty="0">
                <a:solidFill>
                  <a:srgbClr val="4A5568"/>
                </a:solidFill>
                <a:latin typeface="Calibri" pitchFamily="34" charset="0"/>
                <a:ea typeface="Calibri" pitchFamily="34" charset="-122"/>
                <a:cs typeface="Calibri" pitchFamily="34" charset="-120"/>
              </a:rPr>
              <a:t>Accounts routed to BDRs algorithmically, not by preference</a:t>
            </a:r>
            <a:endParaRPr lang="en-US" sz="1050" dirty="0"/>
          </a:p>
        </p:txBody>
      </p:sp>
      <p:sp>
        <p:nvSpPr>
          <p:cNvPr id="10" name="Shape 8"/>
          <p:cNvSpPr/>
          <p:nvPr/>
        </p:nvSpPr>
        <p:spPr>
          <a:xfrm>
            <a:off x="4663440" y="1188720"/>
            <a:ext cx="4023360" cy="3474720"/>
          </a:xfrm>
          <a:prstGeom prst="rectangle">
            <a:avLst/>
          </a:prstGeom>
          <a:solidFill>
            <a:srgbClr val="1B2A4A"/>
          </a:solidFill>
          <a:ln/>
          <a:effectLst>
            <a:outerShdw sx="100000" sy="100000" kx="0" ky="0" algn="bl" rotWithShape="0" blurRad="50800" dist="25400" dir="8100000">
              <a:srgbClr val="000000">
                <a:alpha val="10000"/>
              </a:srgbClr>
            </a:outerShdw>
          </a:effectLst>
        </p:spPr>
      </p:sp>
      <p:pic>
        <p:nvPicPr>
          <p:cNvPr id="11" name="Image 0" descr="preencoded.png">    </p:cNvPr>
          <p:cNvPicPr>
            <a:picLocks noChangeAspect="1"/>
          </p:cNvPicPr>
          <p:nvPr/>
        </p:nvPicPr>
        <p:blipFill>
          <a:blip r:embed="rId1"/>
          <a:stretch>
            <a:fillRect/>
          </a:stretch>
        </p:blipFill>
        <p:spPr>
          <a:xfrm>
            <a:off x="4846320" y="1325880"/>
            <a:ext cx="228600" cy="228600"/>
          </a:xfrm>
          <a:prstGeom prst="rect">
            <a:avLst/>
          </a:prstGeom>
        </p:spPr>
      </p:pic>
      <p:sp>
        <p:nvSpPr>
          <p:cNvPr id="12" name="Text 9"/>
          <p:cNvSpPr/>
          <p:nvPr/>
        </p:nvSpPr>
        <p:spPr>
          <a:xfrm>
            <a:off x="5120640" y="1325880"/>
            <a:ext cx="3383280" cy="274320"/>
          </a:xfrm>
          <a:prstGeom prst="rect">
            <a:avLst/>
          </a:prstGeom>
          <a:noFill/>
          <a:ln/>
        </p:spPr>
        <p:txBody>
          <a:bodyPr wrap="square" lIns="0" tIns="0" rIns="0" bIns="0" rtlCol="0" anchor="ctr"/>
          <a:lstStyle/>
          <a:p>
            <a:pPr indent="0" marL="0">
              <a:buNone/>
            </a:pPr>
            <a:r>
              <a:rPr lang="en-US" sz="1000" b="1" spc="200" kern="0" dirty="0">
                <a:solidFill>
                  <a:srgbClr val="D4A843"/>
                </a:solidFill>
                <a:latin typeface="Calibri" pitchFamily="34" charset="0"/>
                <a:ea typeface="Calibri" pitchFamily="34" charset="-122"/>
                <a:cs typeface="Calibri" pitchFamily="34" charset="-120"/>
              </a:rPr>
              <a:t>HARMONIA APPLICATION</a:t>
            </a:r>
            <a:endParaRPr lang="en-US" sz="1000" dirty="0"/>
          </a:p>
        </p:txBody>
      </p:sp>
      <p:sp>
        <p:nvSpPr>
          <p:cNvPr id="13" name="Text 10"/>
          <p:cNvSpPr/>
          <p:nvPr/>
        </p:nvSpPr>
        <p:spPr>
          <a:xfrm>
            <a:off x="4846320" y="1691640"/>
            <a:ext cx="3657600" cy="2743200"/>
          </a:xfrm>
          <a:prstGeom prst="rect">
            <a:avLst/>
          </a:prstGeom>
          <a:noFill/>
          <a:ln/>
        </p:spPr>
        <p:txBody>
          <a:bodyPr wrap="square" lIns="0" tIns="0" rIns="0" bIns="0" rtlCol="0" anchor="ctr"/>
          <a:lstStyle/>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Build a lead scoring model for HVAC prospects using:</a:t>
            </a:r>
            <a:endParaRPr lang="en-US" sz="1050" dirty="0"/>
          </a:p>
          <a:p>
            <a:pPr indent="0" marL="0">
              <a:spcAft>
                <a:spcPts val="300"/>
              </a:spcAft>
              <a:buNone/>
            </a:pP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Home age &amp; HVAC system age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Online review activity / Google LSA engagement</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ServiceTitan data (service history, ticket value)</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Seasonal demand signals (weather, peak periods)</a:t>
            </a:r>
            <a:endParaRPr lang="en-US" sz="1050" dirty="0"/>
          </a:p>
          <a:p>
            <a:pPr marL="342900" indent="-342900">
              <a:spcAft>
                <a:spcPts val="300"/>
              </a:spcAft>
              <a:buSzPct val="100000"/>
              <a:buChar char="•"/>
            </a:pPr>
            <a:r>
              <a:rPr lang="en-US" sz="1050" dirty="0">
                <a:solidFill>
                  <a:srgbClr val="FFFFFF"/>
                </a:solidFill>
                <a:latin typeface="Calibri" pitchFamily="34" charset="0"/>
                <a:ea typeface="Calibri" pitchFamily="34" charset="-122"/>
                <a:cs typeface="Calibri" pitchFamily="34" charset="-120"/>
              </a:rPr>
              <a:t>Web form urgency keywords</a:t>
            </a:r>
            <a:endParaRPr lang="en-US" sz="1050" dirty="0"/>
          </a:p>
          <a:p>
            <a:pPr indent="0" marL="0">
              <a:spcAft>
                <a:spcPts val="300"/>
              </a:spcAft>
              <a:buNone/>
            </a:pPr>
            <a:endParaRPr lang="en-US" sz="1050" dirty="0"/>
          </a:p>
          <a:p>
            <a:pPr indent="0" marL="0">
              <a:spcAft>
                <a:spcPts val="300"/>
              </a:spcAft>
              <a:buNone/>
            </a:pPr>
            <a:r>
              <a:rPr lang="en-US" sz="1050" dirty="0">
                <a:solidFill>
                  <a:srgbClr val="FFFFFF"/>
                </a:solidFill>
                <a:latin typeface="Calibri" pitchFamily="34" charset="0"/>
                <a:ea typeface="Calibri" pitchFamily="34" charset="-122"/>
                <a:cs typeface="Calibri" pitchFamily="34" charset="-120"/>
              </a:rPr>
              <a:t>Harmonia already scores leads (HOT/WARM/COOL/COLD). The next step: make it predictive with ML, not just rule-based.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OPPORTUNITY 2</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5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Data Infrastructure: Fix the Foundation Before Scaling</a:t>
            </a:r>
            <a:endParaRPr lang="en-US" sz="2200" dirty="0"/>
          </a:p>
        </p:txBody>
      </p:sp>
      <p:sp>
        <p:nvSpPr>
          <p:cNvPr id="6" name="Shape 4"/>
          <p:cNvSpPr/>
          <p:nvPr/>
        </p:nvSpPr>
        <p:spPr>
          <a:xfrm>
            <a:off x="548640" y="1188720"/>
            <a:ext cx="3931920" cy="201168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1188720"/>
            <a:ext cx="54864" cy="2011680"/>
          </a:xfrm>
          <a:prstGeom prst="rectangle">
            <a:avLst/>
          </a:prstGeom>
          <a:solidFill>
            <a:srgbClr val="E85D4A"/>
          </a:solidFill>
          <a:ln/>
        </p:spPr>
      </p:sp>
      <p:sp>
        <p:nvSpPr>
          <p:cNvPr id="8" name="Text 6"/>
          <p:cNvSpPr/>
          <p:nvPr/>
        </p:nvSpPr>
        <p:spPr>
          <a:xfrm>
            <a:off x="777240" y="1280160"/>
            <a:ext cx="1828800" cy="274320"/>
          </a:xfrm>
          <a:prstGeom prst="rect">
            <a:avLst/>
          </a:prstGeom>
          <a:noFill/>
          <a:ln/>
        </p:spPr>
        <p:txBody>
          <a:bodyPr wrap="square" lIns="0" tIns="0" rIns="0" bIns="0" rtlCol="0" anchor="ctr"/>
          <a:lstStyle/>
          <a:p>
            <a:pPr indent="0" marL="0">
              <a:buNone/>
            </a:pPr>
            <a:r>
              <a:rPr lang="en-US" sz="1100" b="1" dirty="0">
                <a:solidFill>
                  <a:srgbClr val="E85D4A"/>
                </a:solidFill>
                <a:latin typeface="Calibri" pitchFamily="34" charset="0"/>
                <a:ea typeface="Calibri" pitchFamily="34" charset="-122"/>
                <a:cs typeface="Calibri" pitchFamily="34" charset="-120"/>
              </a:rPr>
              <a:t>BEFORE</a:t>
            </a:r>
            <a:endParaRPr lang="en-US" sz="1100" dirty="0"/>
          </a:p>
        </p:txBody>
      </p:sp>
      <p:sp>
        <p:nvSpPr>
          <p:cNvPr id="9" name="Text 7"/>
          <p:cNvSpPr/>
          <p:nvPr/>
        </p:nvSpPr>
        <p:spPr>
          <a:xfrm>
            <a:off x="777240" y="1600200"/>
            <a:ext cx="347472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4A5568"/>
                </a:solidFill>
                <a:latin typeface="Calibri" pitchFamily="34" charset="0"/>
                <a:ea typeface="Calibri" pitchFamily="34" charset="-122"/>
                <a:cs typeface="Calibri" pitchFamily="34" charset="-120"/>
              </a:rPr>
              <a:t>40% data accuracy</a:t>
            </a:r>
            <a:endParaRPr lang="en-US" sz="1050" dirty="0"/>
          </a:p>
          <a:p>
            <a:pPr marL="342900" indent="-342900">
              <a:spcAft>
                <a:spcPts val="300"/>
              </a:spcAft>
              <a:buSzPct val="100000"/>
              <a:buChar char="•"/>
            </a:pPr>
            <a:r>
              <a:rPr lang="en-US" sz="1050" dirty="0">
                <a:solidFill>
                  <a:srgbClr val="4A5568"/>
                </a:solidFill>
                <a:latin typeface="Calibri" pitchFamily="34" charset="0"/>
                <a:ea typeface="Calibri" pitchFamily="34" charset="-122"/>
                <a:cs typeface="Calibri" pitchFamily="34" charset="-120"/>
              </a:rPr>
              <a:t>3% connect rate to decision-makers</a:t>
            </a:r>
            <a:endParaRPr lang="en-US" sz="1050" dirty="0"/>
          </a:p>
          <a:p>
            <a:pPr marL="342900" indent="-342900">
              <a:spcAft>
                <a:spcPts val="300"/>
              </a:spcAft>
              <a:buSzPct val="100000"/>
              <a:buChar char="•"/>
            </a:pPr>
            <a:r>
              <a:rPr lang="en-US" sz="1050" dirty="0">
                <a:solidFill>
                  <a:srgbClr val="4A5568"/>
                </a:solidFill>
                <a:latin typeface="Calibri" pitchFamily="34" charset="0"/>
                <a:ea typeface="Calibri" pitchFamily="34" charset="-122"/>
                <a:cs typeface="Calibri" pitchFamily="34" charset="-120"/>
              </a:rPr>
              <a:t>BDRs wasted 50% of time on bad data</a:t>
            </a:r>
            <a:endParaRPr lang="en-US" sz="1050" dirty="0"/>
          </a:p>
          <a:p>
            <a:pPr marL="342900" indent="-342900">
              <a:spcAft>
                <a:spcPts val="300"/>
              </a:spcAft>
              <a:buSzPct val="100000"/>
              <a:buChar char="•"/>
            </a:pPr>
            <a:r>
              <a:rPr lang="en-US" sz="1050" dirty="0">
                <a:solidFill>
                  <a:srgbClr val="4A5568"/>
                </a:solidFill>
                <a:latin typeface="Calibri" pitchFamily="34" charset="0"/>
                <a:ea typeface="Calibri" pitchFamily="34" charset="-122"/>
                <a:cs typeface="Calibri" pitchFamily="34" charset="-120"/>
              </a:rPr>
              <a:t>4% booking rate</a:t>
            </a:r>
            <a:endParaRPr lang="en-US" sz="1050" dirty="0"/>
          </a:p>
        </p:txBody>
      </p:sp>
      <p:sp>
        <p:nvSpPr>
          <p:cNvPr id="10" name="Shape 8"/>
          <p:cNvSpPr/>
          <p:nvPr/>
        </p:nvSpPr>
        <p:spPr>
          <a:xfrm>
            <a:off x="4663440" y="1188720"/>
            <a:ext cx="4023360" cy="201168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188720"/>
            <a:ext cx="54864" cy="2011680"/>
          </a:xfrm>
          <a:prstGeom prst="rectangle">
            <a:avLst/>
          </a:prstGeom>
          <a:solidFill>
            <a:srgbClr val="1A9E8F"/>
          </a:solidFill>
          <a:ln/>
        </p:spPr>
      </p:sp>
      <p:sp>
        <p:nvSpPr>
          <p:cNvPr id="12" name="Text 10"/>
          <p:cNvSpPr/>
          <p:nvPr/>
        </p:nvSpPr>
        <p:spPr>
          <a:xfrm>
            <a:off x="4892040" y="1280160"/>
            <a:ext cx="1828800" cy="274320"/>
          </a:xfrm>
          <a:prstGeom prst="rect">
            <a:avLst/>
          </a:prstGeom>
          <a:noFill/>
          <a:ln/>
        </p:spPr>
        <p:txBody>
          <a:bodyPr wrap="square" lIns="0" tIns="0" rIns="0" bIns="0" rtlCol="0" anchor="ctr"/>
          <a:lstStyle/>
          <a:p>
            <a:pPr indent="0" marL="0">
              <a:buNone/>
            </a:pPr>
            <a:r>
              <a:rPr lang="en-US" sz="1100" b="1" dirty="0">
                <a:solidFill>
                  <a:srgbClr val="1A9E8F"/>
                </a:solidFill>
                <a:latin typeface="Calibri" pitchFamily="34" charset="0"/>
                <a:ea typeface="Calibri" pitchFamily="34" charset="-122"/>
                <a:cs typeface="Calibri" pitchFamily="34" charset="-120"/>
              </a:rPr>
              <a:t>AFTER</a:t>
            </a:r>
            <a:endParaRPr lang="en-US" sz="1100" dirty="0"/>
          </a:p>
        </p:txBody>
      </p:sp>
      <p:sp>
        <p:nvSpPr>
          <p:cNvPr id="13" name="Text 11"/>
          <p:cNvSpPr/>
          <p:nvPr/>
        </p:nvSpPr>
        <p:spPr>
          <a:xfrm>
            <a:off x="4892040" y="1600200"/>
            <a:ext cx="3657600" cy="1463040"/>
          </a:xfrm>
          <a:prstGeom prst="rect">
            <a:avLst/>
          </a:prstGeom>
          <a:noFill/>
          <a:ln/>
        </p:spPr>
        <p:txBody>
          <a:bodyPr wrap="square" lIns="0" tIns="0" rIns="0" bIns="0" rtlCol="0" anchor="ctr"/>
          <a:lstStyle/>
          <a:p>
            <a:pPr marL="342900" indent="-342900">
              <a:spcAft>
                <a:spcPts val="300"/>
              </a:spcAft>
              <a:buSzPct val="100000"/>
              <a:buChar char="•"/>
            </a:pPr>
            <a:r>
              <a:rPr lang="en-US" sz="1050" dirty="0">
                <a:solidFill>
                  <a:srgbClr val="4A5568"/>
                </a:solidFill>
                <a:latin typeface="Calibri" pitchFamily="34" charset="0"/>
                <a:ea typeface="Calibri" pitchFamily="34" charset="-122"/>
                <a:cs typeface="Calibri" pitchFamily="34" charset="-120"/>
              </a:rPr>
              <a:t>85%+ data accuracy</a:t>
            </a:r>
            <a:endParaRPr lang="en-US" sz="1050" dirty="0"/>
          </a:p>
          <a:p>
            <a:pPr marL="342900" indent="-342900">
              <a:spcAft>
                <a:spcPts val="300"/>
              </a:spcAft>
              <a:buSzPct val="100000"/>
              <a:buChar char="•"/>
            </a:pPr>
            <a:r>
              <a:rPr lang="en-US" sz="1050" dirty="0">
                <a:solidFill>
                  <a:srgbClr val="4A5568"/>
                </a:solidFill>
                <a:latin typeface="Calibri" pitchFamily="34" charset="0"/>
                <a:ea typeface="Calibri" pitchFamily="34" charset="-122"/>
                <a:cs typeface="Calibri" pitchFamily="34" charset="-120"/>
              </a:rPr>
              <a:t>16-20% connect rate</a:t>
            </a:r>
            <a:endParaRPr lang="en-US" sz="1050" dirty="0"/>
          </a:p>
          <a:p>
            <a:pPr marL="342900" indent="-342900">
              <a:spcAft>
                <a:spcPts val="300"/>
              </a:spcAft>
              <a:buSzPct val="100000"/>
              <a:buChar char="•"/>
            </a:pPr>
            <a:r>
              <a:rPr lang="en-US" sz="1050" dirty="0">
                <a:solidFill>
                  <a:srgbClr val="4A5568"/>
                </a:solidFill>
                <a:latin typeface="Calibri" pitchFamily="34" charset="0"/>
                <a:ea typeface="Calibri" pitchFamily="34" charset="-122"/>
                <a:cs typeface="Calibri" pitchFamily="34" charset="-120"/>
              </a:rPr>
              <a:t>BDRs 2x more efficient</a:t>
            </a:r>
            <a:endParaRPr lang="en-US" sz="1050" dirty="0"/>
          </a:p>
          <a:p>
            <a:pPr marL="342900" indent="-342900">
              <a:spcAft>
                <a:spcPts val="300"/>
              </a:spcAft>
              <a:buSzPct val="100000"/>
              <a:buChar char="•"/>
            </a:pPr>
            <a:r>
              <a:rPr lang="en-US" sz="1050" dirty="0">
                <a:solidFill>
                  <a:srgbClr val="4A5568"/>
                </a:solidFill>
                <a:latin typeface="Calibri" pitchFamily="34" charset="0"/>
                <a:ea typeface="Calibri" pitchFamily="34" charset="-122"/>
                <a:cs typeface="Calibri" pitchFamily="34" charset="-120"/>
              </a:rPr>
              <a:t>16% booking rate</a:t>
            </a:r>
            <a:endParaRPr lang="en-US" sz="1050" dirty="0"/>
          </a:p>
        </p:txBody>
      </p:sp>
      <p:sp>
        <p:nvSpPr>
          <p:cNvPr id="14" name="Shape 12"/>
          <p:cNvSpPr/>
          <p:nvPr/>
        </p:nvSpPr>
        <p:spPr>
          <a:xfrm>
            <a:off x="548640" y="3383280"/>
            <a:ext cx="8138160" cy="1463040"/>
          </a:xfrm>
          <a:prstGeom prst="rectangle">
            <a:avLst/>
          </a:prstGeom>
          <a:solidFill>
            <a:srgbClr val="1B2A4A"/>
          </a:solidFill>
          <a:ln/>
          <a:effectLst>
            <a:outerShdw sx="100000" sy="100000" kx="0" ky="0" algn="bl" rotWithShape="0" blurRad="50800" dist="25400" dir="8100000">
              <a:srgbClr val="000000">
                <a:alpha val="10000"/>
              </a:srgbClr>
            </a:outerShdw>
          </a:effectLst>
        </p:spPr>
      </p:sp>
      <p:pic>
        <p:nvPicPr>
          <p:cNvPr id="15" name="Image 0" descr="preencoded.png">    </p:cNvPr>
          <p:cNvPicPr>
            <a:picLocks noChangeAspect="1"/>
          </p:cNvPicPr>
          <p:nvPr/>
        </p:nvPicPr>
        <p:blipFill>
          <a:blip r:embed="rId1"/>
          <a:stretch>
            <a:fillRect/>
          </a:stretch>
        </p:blipFill>
        <p:spPr>
          <a:xfrm>
            <a:off x="731520" y="3520440"/>
            <a:ext cx="228600" cy="228600"/>
          </a:xfrm>
          <a:prstGeom prst="rect">
            <a:avLst/>
          </a:prstGeom>
        </p:spPr>
      </p:pic>
      <p:sp>
        <p:nvSpPr>
          <p:cNvPr id="16" name="Text 13"/>
          <p:cNvSpPr/>
          <p:nvPr/>
        </p:nvSpPr>
        <p:spPr>
          <a:xfrm>
            <a:off x="1005840" y="3520440"/>
            <a:ext cx="2743200" cy="274320"/>
          </a:xfrm>
          <a:prstGeom prst="rect">
            <a:avLst/>
          </a:prstGeom>
          <a:noFill/>
          <a:ln/>
        </p:spPr>
        <p:txBody>
          <a:bodyPr wrap="square" lIns="0" tIns="0" rIns="0" bIns="0" rtlCol="0" anchor="ctr"/>
          <a:lstStyle/>
          <a:p>
            <a:pPr indent="0" marL="0">
              <a:buNone/>
            </a:pPr>
            <a:r>
              <a:rPr lang="en-US" sz="1000" b="1" spc="200" kern="0" dirty="0">
                <a:solidFill>
                  <a:srgbClr val="D4A843"/>
                </a:solidFill>
                <a:latin typeface="Calibri" pitchFamily="34" charset="0"/>
                <a:ea typeface="Calibri" pitchFamily="34" charset="-122"/>
                <a:cs typeface="Calibri" pitchFamily="34" charset="-120"/>
              </a:rPr>
              <a:t>HARMONIA APPLICATION</a:t>
            </a:r>
            <a:endParaRPr lang="en-US" sz="1000" dirty="0"/>
          </a:p>
        </p:txBody>
      </p:sp>
      <p:sp>
        <p:nvSpPr>
          <p:cNvPr id="17" name="Text 14"/>
          <p:cNvSpPr/>
          <p:nvPr/>
        </p:nvSpPr>
        <p:spPr>
          <a:xfrm>
            <a:off x="731520" y="3840480"/>
            <a:ext cx="7772400" cy="91440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Enrich Airtable lead records with verified phone numbers before Vapi outbound calls</a:t>
            </a:r>
            <a:endParaRPr lang="en-US" sz="1050" dirty="0"/>
          </a:p>
          <a:p>
            <a:pPr marL="342900" indent="-3429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Validate Google LSA and Facebook lead data on intake (reject/flag incomplete records)</a:t>
            </a:r>
            <a:endParaRPr lang="en-US" sz="1050" dirty="0"/>
          </a:p>
          <a:p>
            <a:pPr marL="342900" indent="-3429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Integrate with ServiceTitan to pull real-time customer data for personalized outreach</a:t>
            </a:r>
            <a:endParaRPr lang="en-US" sz="1050" dirty="0"/>
          </a:p>
          <a:p>
            <a:pPr marL="342900" indent="-342900">
              <a:spcAft>
                <a:spcPts val="200"/>
              </a:spcAft>
              <a:buSzPct val="100000"/>
              <a:buChar char="•"/>
            </a:pPr>
            <a:r>
              <a:rPr lang="en-US" sz="1050" dirty="0">
                <a:solidFill>
                  <a:srgbClr val="FFFFFF"/>
                </a:solidFill>
                <a:latin typeface="Calibri" pitchFamily="34" charset="0"/>
                <a:ea typeface="Calibri" pitchFamily="34" charset="-122"/>
                <a:cs typeface="Calibri" pitchFamily="34" charset="-120"/>
              </a:rPr>
              <a:t>Track connect rates and data quality metrics in n8n dashboards — don't scale reps until data is clean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OPPORTUNITY 3</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6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Eliminate Non-Revenue-Generating Activities</a:t>
            </a:r>
            <a:endParaRPr lang="en-US" sz="2200" dirty="0"/>
          </a:p>
        </p:txBody>
      </p:sp>
      <p:sp>
        <p:nvSpPr>
          <p:cNvPr id="6" name="Shape 4"/>
          <p:cNvSpPr/>
          <p:nvPr/>
        </p:nvSpPr>
        <p:spPr>
          <a:xfrm>
            <a:off x="548640" y="1143000"/>
            <a:ext cx="2560320" cy="1463040"/>
          </a:xfrm>
          <a:prstGeom prst="rectangle">
            <a:avLst/>
          </a:prstGeom>
          <a:solidFill>
            <a:srgbClr val="D4A843"/>
          </a:solidFill>
          <a:ln/>
        </p:spPr>
      </p:sp>
      <p:sp>
        <p:nvSpPr>
          <p:cNvPr id="7" name="Text 5"/>
          <p:cNvSpPr/>
          <p:nvPr/>
        </p:nvSpPr>
        <p:spPr>
          <a:xfrm>
            <a:off x="548640" y="1188720"/>
            <a:ext cx="2560320" cy="822960"/>
          </a:xfrm>
          <a:prstGeom prst="rect">
            <a:avLst/>
          </a:prstGeom>
          <a:noFill/>
          <a:ln/>
        </p:spPr>
        <p:txBody>
          <a:bodyPr wrap="square" lIns="0" tIns="0" rIns="0" bIns="0"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80%</a:t>
            </a:r>
            <a:endParaRPr lang="en-US" sz="5200" dirty="0"/>
          </a:p>
        </p:txBody>
      </p:sp>
      <p:sp>
        <p:nvSpPr>
          <p:cNvPr id="8" name="Text 6"/>
          <p:cNvSpPr/>
          <p:nvPr/>
        </p:nvSpPr>
        <p:spPr>
          <a:xfrm>
            <a:off x="548640" y="1965960"/>
            <a:ext cx="2560320" cy="54864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of BDR time on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prospecting activities</a:t>
            </a:r>
            <a:endParaRPr lang="en-US" sz="1100" dirty="0"/>
          </a:p>
        </p:txBody>
      </p:sp>
      <p:sp>
        <p:nvSpPr>
          <p:cNvPr id="9" name="Shape 7"/>
          <p:cNvSpPr/>
          <p:nvPr/>
        </p:nvSpPr>
        <p:spPr>
          <a:xfrm>
            <a:off x="3291840" y="1143000"/>
            <a:ext cx="5394960" cy="146304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0" name="Text 8"/>
          <p:cNvSpPr/>
          <p:nvPr/>
        </p:nvSpPr>
        <p:spPr>
          <a:xfrm>
            <a:off x="3474720" y="1234440"/>
            <a:ext cx="5029200" cy="274320"/>
          </a:xfrm>
          <a:prstGeom prst="rect">
            <a:avLst/>
          </a:prstGeom>
          <a:noFill/>
          <a:ln/>
        </p:spPr>
        <p:txBody>
          <a:bodyPr wrap="square" lIns="0" tIns="0" rIns="0" bIns="0" rtlCol="0" anchor="ctr"/>
          <a:lstStyle/>
          <a:p>
            <a:pPr indent="0" marL="0">
              <a:buNone/>
            </a:pPr>
            <a:r>
              <a:rPr lang="en-US" sz="1000" b="1" spc="200" kern="0" dirty="0">
                <a:solidFill>
                  <a:srgbClr val="1B2A4A"/>
                </a:solidFill>
                <a:latin typeface="Calibri" pitchFamily="34" charset="0"/>
                <a:ea typeface="Calibri" pitchFamily="34" charset="-122"/>
                <a:cs typeface="Calibri" pitchFamily="34" charset="-120"/>
              </a:rPr>
              <a:t>HOW OWNER.COM ACHIEVES THIS</a:t>
            </a:r>
            <a:endParaRPr lang="en-US" sz="1000" dirty="0"/>
          </a:p>
        </p:txBody>
      </p:sp>
      <p:sp>
        <p:nvSpPr>
          <p:cNvPr id="11" name="Text 9"/>
          <p:cNvSpPr/>
          <p:nvPr/>
        </p:nvSpPr>
        <p:spPr>
          <a:xfrm>
            <a:off x="3474720" y="1554480"/>
            <a:ext cx="5029200" cy="91440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Pre-researched accounts: closest customer pulled for instant social proof</a:t>
            </a:r>
            <a:endParaRPr lang="en-US" sz="1050" dirty="0"/>
          </a:p>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Accounts auto-routed into SalesLoft sequences — no manual picking</a:t>
            </a:r>
            <a:endParaRPr lang="en-US" sz="1050" dirty="0"/>
          </a:p>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Messaging adapts to account maturity (3rd-party user vs. no online ordering)</a:t>
            </a:r>
            <a:endParaRPr lang="en-US" sz="1050" dirty="0"/>
          </a:p>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AI records calls, extracts insights, auto-updates CRM</a:t>
            </a:r>
            <a:endParaRPr lang="en-US" sz="1050" dirty="0"/>
          </a:p>
        </p:txBody>
      </p:sp>
      <p:sp>
        <p:nvSpPr>
          <p:cNvPr id="12" name="Shape 10"/>
          <p:cNvSpPr/>
          <p:nvPr/>
        </p:nvSpPr>
        <p:spPr>
          <a:xfrm>
            <a:off x="548640" y="2834640"/>
            <a:ext cx="8138160" cy="2011680"/>
          </a:xfrm>
          <a:prstGeom prst="rectangle">
            <a:avLst/>
          </a:prstGeom>
          <a:solidFill>
            <a:srgbClr val="1B2A4A"/>
          </a:solidFill>
          <a:ln/>
          <a:effectLst>
            <a:outerShdw sx="100000" sy="100000" kx="0" ky="0" algn="bl" rotWithShape="0" blurRad="50800" dist="25400" dir="8100000">
              <a:srgbClr val="000000">
                <a:alpha val="10000"/>
              </a:srgbClr>
            </a:outerShdw>
          </a:effectLst>
        </p:spPr>
      </p:sp>
      <p:pic>
        <p:nvPicPr>
          <p:cNvPr id="13" name="Image 0" descr="preencoded.png">    </p:cNvPr>
          <p:cNvPicPr>
            <a:picLocks noChangeAspect="1"/>
          </p:cNvPicPr>
          <p:nvPr/>
        </p:nvPicPr>
        <p:blipFill>
          <a:blip r:embed="rId1"/>
          <a:stretch>
            <a:fillRect/>
          </a:stretch>
        </p:blipFill>
        <p:spPr>
          <a:xfrm>
            <a:off x="731520" y="2971800"/>
            <a:ext cx="228600" cy="228600"/>
          </a:xfrm>
          <a:prstGeom prst="rect">
            <a:avLst/>
          </a:prstGeom>
        </p:spPr>
      </p:pic>
      <p:sp>
        <p:nvSpPr>
          <p:cNvPr id="14" name="Text 11"/>
          <p:cNvSpPr/>
          <p:nvPr/>
        </p:nvSpPr>
        <p:spPr>
          <a:xfrm>
            <a:off x="1005840" y="2971800"/>
            <a:ext cx="2743200" cy="274320"/>
          </a:xfrm>
          <a:prstGeom prst="rect">
            <a:avLst/>
          </a:prstGeom>
          <a:noFill/>
          <a:ln/>
        </p:spPr>
        <p:txBody>
          <a:bodyPr wrap="square" lIns="0" tIns="0" rIns="0" bIns="0" rtlCol="0" anchor="ctr"/>
          <a:lstStyle/>
          <a:p>
            <a:pPr indent="0" marL="0">
              <a:buNone/>
            </a:pPr>
            <a:r>
              <a:rPr lang="en-US" sz="1000" b="1" spc="200" kern="0" dirty="0">
                <a:solidFill>
                  <a:srgbClr val="D4A843"/>
                </a:solidFill>
                <a:latin typeface="Calibri" pitchFamily="34" charset="0"/>
                <a:ea typeface="Calibri" pitchFamily="34" charset="-122"/>
                <a:cs typeface="Calibri" pitchFamily="34" charset="-120"/>
              </a:rPr>
              <a:t>HARMONIA APPLICATION</a:t>
            </a:r>
            <a:endParaRPr lang="en-US" sz="1000" dirty="0"/>
          </a:p>
        </p:txBody>
      </p:sp>
      <p:sp>
        <p:nvSpPr>
          <p:cNvPr id="15" name="Text 12"/>
          <p:cNvSpPr/>
          <p:nvPr/>
        </p:nvSpPr>
        <p:spPr>
          <a:xfrm>
            <a:off x="731520" y="3337560"/>
            <a:ext cx="3840480" cy="228600"/>
          </a:xfrm>
          <a:prstGeom prst="rect">
            <a:avLst/>
          </a:prstGeom>
          <a:noFill/>
          <a:ln/>
        </p:spPr>
        <p:txBody>
          <a:bodyPr wrap="square" lIns="0" tIns="0" rIns="0" bIns="0" rtlCol="0" anchor="ctr"/>
          <a:lstStyle/>
          <a:p>
            <a:pPr indent="0" marL="0">
              <a:buNone/>
            </a:pPr>
            <a:r>
              <a:rPr lang="en-US" sz="1050" b="1" dirty="0">
                <a:solidFill>
                  <a:srgbClr val="F0D78C"/>
                </a:solidFill>
                <a:latin typeface="Calibri" pitchFamily="34" charset="0"/>
                <a:ea typeface="Calibri" pitchFamily="34" charset="-122"/>
                <a:cs typeface="Calibri" pitchFamily="34" charset="-120"/>
              </a:rPr>
              <a:t>Voice AI as the Ultimate Non-RGA Eliminator</a:t>
            </a:r>
            <a:endParaRPr lang="en-US" sz="1050" dirty="0"/>
          </a:p>
        </p:txBody>
      </p:sp>
      <p:sp>
        <p:nvSpPr>
          <p:cNvPr id="16" name="Text 13"/>
          <p:cNvSpPr/>
          <p:nvPr/>
        </p:nvSpPr>
        <p:spPr>
          <a:xfrm>
            <a:off x="731520" y="3566160"/>
            <a:ext cx="3840480" cy="365760"/>
          </a:xfrm>
          <a:prstGeom prst="rect">
            <a:avLst/>
          </a:prstGeom>
          <a:noFill/>
          <a:ln/>
        </p:spPr>
        <p:txBody>
          <a:bodyPr wrap="square" lIns="0" tIns="0" rIns="0" bIns="0" rtlCol="0" anchor="ctr"/>
          <a:lstStyle/>
          <a:p>
            <a:pPr indent="0" marL="0">
              <a:buNone/>
            </a:pPr>
            <a:r>
              <a:rPr lang="en-US" sz="950" dirty="0">
                <a:solidFill>
                  <a:srgbClr val="E2E5EB"/>
                </a:solidFill>
                <a:latin typeface="Calibri" pitchFamily="34" charset="0"/>
                <a:ea typeface="Calibri" pitchFamily="34" charset="-122"/>
                <a:cs typeface="Calibri" pitchFamily="34" charset="-120"/>
              </a:rPr>
              <a:t>Sam (Voice Receptionist) handles inbound calls 24/7 — no human time wasted on qualification</a:t>
            </a:r>
            <a:endParaRPr lang="en-US" sz="950" dirty="0"/>
          </a:p>
        </p:txBody>
      </p:sp>
      <p:sp>
        <p:nvSpPr>
          <p:cNvPr id="17" name="Text 14"/>
          <p:cNvSpPr/>
          <p:nvPr/>
        </p:nvSpPr>
        <p:spPr>
          <a:xfrm>
            <a:off x="4800600" y="3337560"/>
            <a:ext cx="3840480" cy="228600"/>
          </a:xfrm>
          <a:prstGeom prst="rect">
            <a:avLst/>
          </a:prstGeom>
          <a:noFill/>
          <a:ln/>
        </p:spPr>
        <p:txBody>
          <a:bodyPr wrap="square" lIns="0" tIns="0" rIns="0" bIns="0" rtlCol="0" anchor="ctr"/>
          <a:lstStyle/>
          <a:p>
            <a:pPr indent="0" marL="0">
              <a:buNone/>
            </a:pPr>
            <a:r>
              <a:rPr lang="en-US" sz="1050" b="1" dirty="0">
                <a:solidFill>
                  <a:srgbClr val="F0D78C"/>
                </a:solidFill>
                <a:latin typeface="Calibri" pitchFamily="34" charset="0"/>
                <a:ea typeface="Calibri" pitchFamily="34" charset="-122"/>
                <a:cs typeface="Calibri" pitchFamily="34" charset="-120"/>
              </a:rPr>
              <a:t>Auto-Routed Lead Sequences</a:t>
            </a:r>
            <a:endParaRPr lang="en-US" sz="1050" dirty="0"/>
          </a:p>
        </p:txBody>
      </p:sp>
      <p:sp>
        <p:nvSpPr>
          <p:cNvPr id="18" name="Text 15"/>
          <p:cNvSpPr/>
          <p:nvPr/>
        </p:nvSpPr>
        <p:spPr>
          <a:xfrm>
            <a:off x="4800600" y="3566160"/>
            <a:ext cx="3840480" cy="365760"/>
          </a:xfrm>
          <a:prstGeom prst="rect">
            <a:avLst/>
          </a:prstGeom>
          <a:noFill/>
          <a:ln/>
        </p:spPr>
        <p:txBody>
          <a:bodyPr wrap="square" lIns="0" tIns="0" rIns="0" bIns="0" rtlCol="0" anchor="ctr"/>
          <a:lstStyle/>
          <a:p>
            <a:pPr indent="0" marL="0">
              <a:buNone/>
            </a:pPr>
            <a:r>
              <a:rPr lang="en-US" sz="950" dirty="0">
                <a:solidFill>
                  <a:srgbClr val="E2E5EB"/>
                </a:solidFill>
                <a:latin typeface="Calibri" pitchFamily="34" charset="0"/>
                <a:ea typeface="Calibri" pitchFamily="34" charset="-122"/>
                <a:cs typeface="Calibri" pitchFamily="34" charset="-120"/>
              </a:rPr>
              <a:t>n8n Set &amp; Save workflow already routes leads by score. Extend with auto-sequencing for outbound follow-up</a:t>
            </a:r>
            <a:endParaRPr lang="en-US" sz="950" dirty="0"/>
          </a:p>
        </p:txBody>
      </p:sp>
      <p:sp>
        <p:nvSpPr>
          <p:cNvPr id="19" name="Text 16"/>
          <p:cNvSpPr/>
          <p:nvPr/>
        </p:nvSpPr>
        <p:spPr>
          <a:xfrm>
            <a:off x="731520" y="4023360"/>
            <a:ext cx="3840480" cy="228600"/>
          </a:xfrm>
          <a:prstGeom prst="rect">
            <a:avLst/>
          </a:prstGeom>
          <a:noFill/>
          <a:ln/>
        </p:spPr>
        <p:txBody>
          <a:bodyPr wrap="square" lIns="0" tIns="0" rIns="0" bIns="0" rtlCol="0" anchor="ctr"/>
          <a:lstStyle/>
          <a:p>
            <a:pPr indent="0" marL="0">
              <a:buNone/>
            </a:pPr>
            <a:r>
              <a:rPr lang="en-US" sz="1050" b="1" dirty="0">
                <a:solidFill>
                  <a:srgbClr val="F0D78C"/>
                </a:solidFill>
                <a:latin typeface="Calibri" pitchFamily="34" charset="0"/>
                <a:ea typeface="Calibri" pitchFamily="34" charset="-122"/>
                <a:cs typeface="Calibri" pitchFamily="34" charset="-120"/>
              </a:rPr>
              <a:t>Pre-Built Social Proof</a:t>
            </a:r>
            <a:endParaRPr lang="en-US" sz="1050" dirty="0"/>
          </a:p>
        </p:txBody>
      </p:sp>
      <p:sp>
        <p:nvSpPr>
          <p:cNvPr id="20" name="Text 17"/>
          <p:cNvSpPr/>
          <p:nvPr/>
        </p:nvSpPr>
        <p:spPr>
          <a:xfrm>
            <a:off x="731520" y="4251960"/>
            <a:ext cx="3840480" cy="365760"/>
          </a:xfrm>
          <a:prstGeom prst="rect">
            <a:avLst/>
          </a:prstGeom>
          <a:noFill/>
          <a:ln/>
        </p:spPr>
        <p:txBody>
          <a:bodyPr wrap="square" lIns="0" tIns="0" rIns="0" bIns="0" rtlCol="0" anchor="ctr"/>
          <a:lstStyle/>
          <a:p>
            <a:pPr indent="0" marL="0">
              <a:buNone/>
            </a:pPr>
            <a:r>
              <a:rPr lang="en-US" sz="950" dirty="0">
                <a:solidFill>
                  <a:srgbClr val="E2E5EB"/>
                </a:solidFill>
                <a:latin typeface="Calibri" pitchFamily="34" charset="0"/>
                <a:ea typeface="Calibri" pitchFamily="34" charset="-122"/>
                <a:cs typeface="Calibri" pitchFamily="34" charset="-120"/>
              </a:rPr>
              <a:t>Auto-pull nearest ServiceTitan customer success story for each prospect's zip code</a:t>
            </a:r>
            <a:endParaRPr lang="en-US" sz="950" dirty="0"/>
          </a:p>
        </p:txBody>
      </p:sp>
      <p:sp>
        <p:nvSpPr>
          <p:cNvPr id="21" name="Text 18"/>
          <p:cNvSpPr/>
          <p:nvPr/>
        </p:nvSpPr>
        <p:spPr>
          <a:xfrm>
            <a:off x="4800600" y="4023360"/>
            <a:ext cx="3840480" cy="228600"/>
          </a:xfrm>
          <a:prstGeom prst="rect">
            <a:avLst/>
          </a:prstGeom>
          <a:noFill/>
          <a:ln/>
        </p:spPr>
        <p:txBody>
          <a:bodyPr wrap="square" lIns="0" tIns="0" rIns="0" bIns="0" rtlCol="0" anchor="ctr"/>
          <a:lstStyle/>
          <a:p>
            <a:pPr indent="0" marL="0">
              <a:buNone/>
            </a:pPr>
            <a:r>
              <a:rPr lang="en-US" sz="1050" b="1" dirty="0">
                <a:solidFill>
                  <a:srgbClr val="F0D78C"/>
                </a:solidFill>
                <a:latin typeface="Calibri" pitchFamily="34" charset="0"/>
                <a:ea typeface="Calibri" pitchFamily="34" charset="-122"/>
                <a:cs typeface="Calibri" pitchFamily="34" charset="-120"/>
              </a:rPr>
              <a:t>AI CRM Entry</a:t>
            </a:r>
            <a:endParaRPr lang="en-US" sz="1050" dirty="0"/>
          </a:p>
        </p:txBody>
      </p:sp>
      <p:sp>
        <p:nvSpPr>
          <p:cNvPr id="22" name="Text 19"/>
          <p:cNvSpPr/>
          <p:nvPr/>
        </p:nvSpPr>
        <p:spPr>
          <a:xfrm>
            <a:off x="4800600" y="4251960"/>
            <a:ext cx="3840480" cy="365760"/>
          </a:xfrm>
          <a:prstGeom prst="rect">
            <a:avLst/>
          </a:prstGeom>
          <a:noFill/>
          <a:ln/>
        </p:spPr>
        <p:txBody>
          <a:bodyPr wrap="square" lIns="0" tIns="0" rIns="0" bIns="0" rtlCol="0" anchor="ctr"/>
          <a:lstStyle/>
          <a:p>
            <a:pPr indent="0" marL="0">
              <a:buNone/>
            </a:pPr>
            <a:r>
              <a:rPr lang="en-US" sz="950" dirty="0">
                <a:solidFill>
                  <a:srgbClr val="E2E5EB"/>
                </a:solidFill>
                <a:latin typeface="Calibri" pitchFamily="34" charset="0"/>
                <a:ea typeface="Calibri" pitchFamily="34" charset="-122"/>
                <a:cs typeface="Calibri" pitchFamily="34" charset="-120"/>
              </a:rPr>
              <a:t>Vapi call transcripts + GPT-4o auto-populate Airtable fields — zero manual logging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OPPORTUNITY 4</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7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Invest in RevOps &amp; Enablement from Day One</a:t>
            </a:r>
            <a:endParaRPr lang="en-US" sz="2200" dirty="0"/>
          </a:p>
        </p:txBody>
      </p:sp>
      <p:sp>
        <p:nvSpPr>
          <p:cNvPr id="6" name="Shape 4"/>
          <p:cNvSpPr/>
          <p:nvPr/>
        </p:nvSpPr>
        <p:spPr>
          <a:xfrm>
            <a:off x="548640" y="1143000"/>
            <a:ext cx="8138160" cy="640080"/>
          </a:xfrm>
          <a:prstGeom prst="rectangle">
            <a:avLst/>
          </a:prstGeom>
          <a:solidFill>
            <a:srgbClr val="1B2A4A"/>
          </a:solidFill>
          <a:ln/>
        </p:spPr>
      </p:sp>
      <p:sp>
        <p:nvSpPr>
          <p:cNvPr id="7" name="Text 5"/>
          <p:cNvSpPr/>
          <p:nvPr/>
        </p:nvSpPr>
        <p:spPr>
          <a:xfrm>
            <a:off x="731520" y="1188720"/>
            <a:ext cx="7772400" cy="5486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Owner.com invested in RevOps &amp; Enablement by $3M ARR. By $5M, both were full-time. Today: 7 FTEs with a 1:20 ops-to-sales ratio.</a:t>
            </a:r>
            <a:endParaRPr lang="en-US" sz="1200" dirty="0"/>
          </a:p>
        </p:txBody>
      </p:sp>
      <p:sp>
        <p:nvSpPr>
          <p:cNvPr id="8" name="Shape 6"/>
          <p:cNvSpPr/>
          <p:nvPr/>
        </p:nvSpPr>
        <p:spPr>
          <a:xfrm>
            <a:off x="548640" y="2011680"/>
            <a:ext cx="2651760" cy="27432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9" name="Shape 7"/>
          <p:cNvSpPr/>
          <p:nvPr/>
        </p:nvSpPr>
        <p:spPr>
          <a:xfrm>
            <a:off x="548640" y="2011680"/>
            <a:ext cx="2651760" cy="36576"/>
          </a:xfrm>
          <a:prstGeom prst="rectangle">
            <a:avLst/>
          </a:prstGeom>
          <a:solidFill>
            <a:srgbClr val="D4A843"/>
          </a:solidFill>
          <a:ln/>
        </p:spPr>
      </p:sp>
      <p:sp>
        <p:nvSpPr>
          <p:cNvPr id="10" name="Text 8"/>
          <p:cNvSpPr/>
          <p:nvPr/>
        </p:nvSpPr>
        <p:spPr>
          <a:xfrm>
            <a:off x="685800" y="2148840"/>
            <a:ext cx="2377440" cy="32004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RevOps</a:t>
            </a:r>
            <a:endParaRPr lang="en-US" sz="1400" dirty="0"/>
          </a:p>
        </p:txBody>
      </p:sp>
      <p:sp>
        <p:nvSpPr>
          <p:cNvPr id="11" name="Text 9"/>
          <p:cNvSpPr/>
          <p:nvPr/>
        </p:nvSpPr>
        <p:spPr>
          <a:xfrm>
            <a:off x="685800" y="2560320"/>
            <a:ext cx="2377440" cy="201168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Data infrastructure &amp; enrichment</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Account scoring &amp; routing</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Pipeline analytics &amp; forecasting</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Tech stack management</a:t>
            </a:r>
            <a:endParaRPr lang="en-US" sz="1050" dirty="0"/>
          </a:p>
        </p:txBody>
      </p:sp>
      <p:sp>
        <p:nvSpPr>
          <p:cNvPr id="12" name="Shape 10"/>
          <p:cNvSpPr/>
          <p:nvPr/>
        </p:nvSpPr>
        <p:spPr>
          <a:xfrm>
            <a:off x="3383280" y="2011680"/>
            <a:ext cx="2651760" cy="27432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383280" y="2011680"/>
            <a:ext cx="2651760" cy="36576"/>
          </a:xfrm>
          <a:prstGeom prst="rectangle">
            <a:avLst/>
          </a:prstGeom>
          <a:solidFill>
            <a:srgbClr val="1A9E8F"/>
          </a:solidFill>
          <a:ln/>
        </p:spPr>
      </p:sp>
      <p:sp>
        <p:nvSpPr>
          <p:cNvPr id="14" name="Text 12"/>
          <p:cNvSpPr/>
          <p:nvPr/>
        </p:nvSpPr>
        <p:spPr>
          <a:xfrm>
            <a:off x="3520440" y="2148840"/>
            <a:ext cx="2377440" cy="32004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Enablement</a:t>
            </a:r>
            <a:endParaRPr lang="en-US" sz="1400" dirty="0"/>
          </a:p>
        </p:txBody>
      </p:sp>
      <p:sp>
        <p:nvSpPr>
          <p:cNvPr id="15" name="Text 13"/>
          <p:cNvSpPr/>
          <p:nvPr/>
        </p:nvSpPr>
        <p:spPr>
          <a:xfrm>
            <a:off x="3520440" y="2560320"/>
            <a:ext cx="2377440" cy="201168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AI sim training (Avarra)</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Structured onboarding program</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Skill-based coaching cadences</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Knowledge base (Guru)</a:t>
            </a:r>
            <a:endParaRPr lang="en-US" sz="1050" dirty="0"/>
          </a:p>
        </p:txBody>
      </p:sp>
      <p:sp>
        <p:nvSpPr>
          <p:cNvPr id="16" name="Shape 14"/>
          <p:cNvSpPr/>
          <p:nvPr/>
        </p:nvSpPr>
        <p:spPr>
          <a:xfrm>
            <a:off x="6217920" y="2011680"/>
            <a:ext cx="2651760" cy="27432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6217920" y="2011680"/>
            <a:ext cx="2651760" cy="36576"/>
          </a:xfrm>
          <a:prstGeom prst="rectangle">
            <a:avLst/>
          </a:prstGeom>
          <a:solidFill>
            <a:srgbClr val="3B82F6"/>
          </a:solidFill>
          <a:ln/>
        </p:spPr>
      </p:sp>
      <p:sp>
        <p:nvSpPr>
          <p:cNvPr id="18" name="Text 16"/>
          <p:cNvSpPr/>
          <p:nvPr/>
        </p:nvSpPr>
        <p:spPr>
          <a:xfrm>
            <a:off x="6355080" y="2148840"/>
            <a:ext cx="2377440" cy="32004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Performance Mgmt</a:t>
            </a:r>
            <a:endParaRPr lang="en-US" sz="1400" dirty="0"/>
          </a:p>
        </p:txBody>
      </p:sp>
      <p:sp>
        <p:nvSpPr>
          <p:cNvPr id="19" name="Text 17"/>
          <p:cNvSpPr/>
          <p:nvPr/>
        </p:nvSpPr>
        <p:spPr>
          <a:xfrm>
            <a:off x="6355080" y="2560320"/>
            <a:ext cx="2377440" cy="2011680"/>
          </a:xfrm>
          <a:prstGeom prst="rect">
            <a:avLst/>
          </a:prstGeom>
          <a:noFill/>
          <a:ln/>
        </p:spPr>
        <p:txBody>
          <a:bodyPr wrap="square" lIns="0" tIns="0" rIns="0" bIns="0" rtlCol="0" anchor="ctr"/>
          <a:lstStyle/>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Monthly stack ranking</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Binary attainment thresholds</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Effort + results tracked</a:t>
            </a:r>
            <a:endParaRPr lang="en-US" sz="1050" dirty="0"/>
          </a:p>
          <a:p>
            <a:pPr marL="342900" indent="-342900">
              <a:spcAft>
                <a:spcPts val="500"/>
              </a:spcAft>
              <a:buSzPct val="100000"/>
              <a:buChar char="•"/>
            </a:pPr>
            <a:r>
              <a:rPr lang="en-US" sz="1050" dirty="0">
                <a:solidFill>
                  <a:srgbClr val="4A5568"/>
                </a:solidFill>
                <a:latin typeface="Calibri" pitchFamily="34" charset="0"/>
                <a:ea typeface="Calibri" pitchFamily="34" charset="-122"/>
                <a:cs typeface="Calibri" pitchFamily="34" charset="-120"/>
              </a:rPr>
              <a:t>Fast action on underperformers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OPPORTUNITY 5</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8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Hyper-Specialized Team Structure</a:t>
            </a:r>
            <a:endParaRPr lang="en-US" sz="2200" dirty="0"/>
          </a:p>
        </p:txBody>
      </p:sp>
      <p:sp>
        <p:nvSpPr>
          <p:cNvPr id="6" name="Shape 4"/>
          <p:cNvSpPr/>
          <p:nvPr/>
        </p:nvSpPr>
        <p:spPr>
          <a:xfrm>
            <a:off x="548640" y="1143000"/>
            <a:ext cx="4937760" cy="27432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7" name="Text 5"/>
          <p:cNvSpPr/>
          <p:nvPr/>
        </p:nvSpPr>
        <p:spPr>
          <a:xfrm>
            <a:off x="731520" y="1234440"/>
            <a:ext cx="3657600" cy="274320"/>
          </a:xfrm>
          <a:prstGeom prst="rect">
            <a:avLst/>
          </a:prstGeom>
          <a:noFill/>
          <a:ln/>
        </p:spPr>
        <p:txBody>
          <a:bodyPr wrap="square" lIns="0" tIns="0" rIns="0" bIns="0" rtlCol="0" anchor="ctr"/>
          <a:lstStyle/>
          <a:p>
            <a:pPr indent="0" marL="0">
              <a:buNone/>
            </a:pPr>
            <a:r>
              <a:rPr lang="en-US" sz="1000" b="1" spc="200" kern="0" dirty="0">
                <a:solidFill>
                  <a:srgbClr val="1B2A4A"/>
                </a:solidFill>
                <a:latin typeface="Calibri" pitchFamily="34" charset="0"/>
                <a:ea typeface="Calibri" pitchFamily="34" charset="-122"/>
                <a:cs typeface="Calibri" pitchFamily="34" charset="-120"/>
              </a:rPr>
              <a:t>OWNER.COM TEAM MODEL</a:t>
            </a:r>
            <a:endParaRPr lang="en-US" sz="1000" dirty="0"/>
          </a:p>
        </p:txBody>
      </p:sp>
      <p:sp>
        <p:nvSpPr>
          <p:cNvPr id="8" name="Shape 6"/>
          <p:cNvSpPr/>
          <p:nvPr/>
        </p:nvSpPr>
        <p:spPr>
          <a:xfrm>
            <a:off x="731520" y="1645920"/>
            <a:ext cx="2377440" cy="411480"/>
          </a:xfrm>
          <a:prstGeom prst="rectangle">
            <a:avLst/>
          </a:prstGeom>
          <a:solidFill>
            <a:srgbClr val="E2E5EB"/>
          </a:solidFill>
          <a:ln/>
        </p:spPr>
      </p:sp>
      <p:sp>
        <p:nvSpPr>
          <p:cNvPr id="9" name="Text 7"/>
          <p:cNvSpPr/>
          <p:nvPr/>
        </p:nvSpPr>
        <p:spPr>
          <a:xfrm>
            <a:off x="822960" y="1664208"/>
            <a:ext cx="1188720" cy="18288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Inbound SDRs</a:t>
            </a:r>
            <a:endParaRPr lang="en-US" sz="950" dirty="0"/>
          </a:p>
        </p:txBody>
      </p:sp>
      <p:sp>
        <p:nvSpPr>
          <p:cNvPr id="10" name="Text 8"/>
          <p:cNvSpPr/>
          <p:nvPr/>
        </p:nvSpPr>
        <p:spPr>
          <a:xfrm>
            <a:off x="822960" y="1847088"/>
            <a:ext cx="2194560" cy="182880"/>
          </a:xfrm>
          <a:prstGeom prst="rect">
            <a:avLst/>
          </a:prstGeom>
          <a:noFill/>
          <a:ln/>
        </p:spPr>
        <p:txBody>
          <a:bodyPr wrap="square" lIns="0" tIns="0" rIns="0" bIns="0" rtlCol="0" anchor="ctr"/>
          <a:lstStyle/>
          <a:p>
            <a:pPr indent="0" marL="0">
              <a:buNone/>
            </a:pPr>
            <a:r>
              <a:rPr lang="en-US" sz="850" dirty="0">
                <a:solidFill>
                  <a:srgbClr val="1B2A4A"/>
                </a:solidFill>
                <a:latin typeface="Calibri" pitchFamily="34" charset="0"/>
                <a:ea typeface="Calibri" pitchFamily="34" charset="-122"/>
                <a:cs typeface="Calibri" pitchFamily="34" charset="-120"/>
              </a:rPr>
              <a:t>Handle inbound leads</a:t>
            </a:r>
            <a:endParaRPr lang="en-US" sz="850" dirty="0"/>
          </a:p>
        </p:txBody>
      </p:sp>
      <p:sp>
        <p:nvSpPr>
          <p:cNvPr id="11" name="Shape 9"/>
          <p:cNvSpPr/>
          <p:nvPr/>
        </p:nvSpPr>
        <p:spPr>
          <a:xfrm>
            <a:off x="731520" y="2148840"/>
            <a:ext cx="2377440" cy="411480"/>
          </a:xfrm>
          <a:prstGeom prst="rectangle">
            <a:avLst/>
          </a:prstGeom>
          <a:solidFill>
            <a:srgbClr val="E2E5EB"/>
          </a:solidFill>
          <a:ln/>
        </p:spPr>
      </p:sp>
      <p:sp>
        <p:nvSpPr>
          <p:cNvPr id="12" name="Text 10"/>
          <p:cNvSpPr/>
          <p:nvPr/>
        </p:nvSpPr>
        <p:spPr>
          <a:xfrm>
            <a:off x="822960" y="2167128"/>
            <a:ext cx="1188720" cy="182880"/>
          </a:xfrm>
          <a:prstGeom prst="rect">
            <a:avLst/>
          </a:prstGeom>
          <a:noFill/>
          <a:ln/>
        </p:spPr>
        <p:txBody>
          <a:bodyPr wrap="square" lIns="0" tIns="0" rIns="0" bIns="0" rtlCol="0" anchor="ctr"/>
          <a:lstStyle/>
          <a:p>
            <a:pPr indent="0" marL="0">
              <a:buNone/>
            </a:pPr>
            <a:r>
              <a:rPr lang="en-US" sz="950" b="1" dirty="0">
                <a:solidFill>
                  <a:srgbClr val="1B2A4A"/>
                </a:solidFill>
                <a:latin typeface="Calibri" pitchFamily="34" charset="0"/>
                <a:ea typeface="Calibri" pitchFamily="34" charset="-122"/>
                <a:cs typeface="Calibri" pitchFamily="34" charset="-120"/>
              </a:rPr>
              <a:t>Inbound AEs</a:t>
            </a:r>
            <a:endParaRPr lang="en-US" sz="950" dirty="0"/>
          </a:p>
        </p:txBody>
      </p:sp>
      <p:sp>
        <p:nvSpPr>
          <p:cNvPr id="13" name="Text 11"/>
          <p:cNvSpPr/>
          <p:nvPr/>
        </p:nvSpPr>
        <p:spPr>
          <a:xfrm>
            <a:off x="822960" y="2350008"/>
            <a:ext cx="2194560" cy="182880"/>
          </a:xfrm>
          <a:prstGeom prst="rect">
            <a:avLst/>
          </a:prstGeom>
          <a:noFill/>
          <a:ln/>
        </p:spPr>
        <p:txBody>
          <a:bodyPr wrap="square" lIns="0" tIns="0" rIns="0" bIns="0" rtlCol="0" anchor="ctr"/>
          <a:lstStyle/>
          <a:p>
            <a:pPr indent="0" marL="0">
              <a:buNone/>
            </a:pPr>
            <a:r>
              <a:rPr lang="en-US" sz="850" dirty="0">
                <a:solidFill>
                  <a:srgbClr val="1B2A4A"/>
                </a:solidFill>
                <a:latin typeface="Calibri" pitchFamily="34" charset="0"/>
                <a:ea typeface="Calibri" pitchFamily="34" charset="-122"/>
                <a:cs typeface="Calibri" pitchFamily="34" charset="-120"/>
              </a:rPr>
              <a:t>Close inbound pipeline</a:t>
            </a:r>
            <a:endParaRPr lang="en-US" sz="850" dirty="0"/>
          </a:p>
        </p:txBody>
      </p:sp>
      <p:sp>
        <p:nvSpPr>
          <p:cNvPr id="14" name="Shape 12"/>
          <p:cNvSpPr/>
          <p:nvPr/>
        </p:nvSpPr>
        <p:spPr>
          <a:xfrm>
            <a:off x="2743200" y="1645920"/>
            <a:ext cx="2377440" cy="411480"/>
          </a:xfrm>
          <a:prstGeom prst="rectangle">
            <a:avLst/>
          </a:prstGeom>
          <a:solidFill>
            <a:srgbClr val="1B2A4A"/>
          </a:solidFill>
          <a:ln/>
        </p:spPr>
      </p:sp>
      <p:sp>
        <p:nvSpPr>
          <p:cNvPr id="15" name="Text 13"/>
          <p:cNvSpPr/>
          <p:nvPr/>
        </p:nvSpPr>
        <p:spPr>
          <a:xfrm>
            <a:off x="2834640" y="1664208"/>
            <a:ext cx="1188720"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Outbound BDRs</a:t>
            </a:r>
            <a:endParaRPr lang="en-US" sz="950" dirty="0"/>
          </a:p>
        </p:txBody>
      </p:sp>
      <p:sp>
        <p:nvSpPr>
          <p:cNvPr id="16" name="Text 14"/>
          <p:cNvSpPr/>
          <p:nvPr/>
        </p:nvSpPr>
        <p:spPr>
          <a:xfrm>
            <a:off x="2834640" y="1847088"/>
            <a:ext cx="2194560"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Cold outreach, fill pipeline</a:t>
            </a:r>
            <a:endParaRPr lang="en-US" sz="850" dirty="0"/>
          </a:p>
        </p:txBody>
      </p:sp>
      <p:sp>
        <p:nvSpPr>
          <p:cNvPr id="17" name="Shape 15"/>
          <p:cNvSpPr/>
          <p:nvPr/>
        </p:nvSpPr>
        <p:spPr>
          <a:xfrm>
            <a:off x="2743200" y="2148840"/>
            <a:ext cx="2377440" cy="411480"/>
          </a:xfrm>
          <a:prstGeom prst="rectangle">
            <a:avLst/>
          </a:prstGeom>
          <a:solidFill>
            <a:srgbClr val="243B6A"/>
          </a:solidFill>
          <a:ln/>
        </p:spPr>
      </p:sp>
      <p:sp>
        <p:nvSpPr>
          <p:cNvPr id="18" name="Text 16"/>
          <p:cNvSpPr/>
          <p:nvPr/>
        </p:nvSpPr>
        <p:spPr>
          <a:xfrm>
            <a:off x="2834640" y="2167128"/>
            <a:ext cx="1188720"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Outbound AEs</a:t>
            </a:r>
            <a:endParaRPr lang="en-US" sz="950" dirty="0"/>
          </a:p>
        </p:txBody>
      </p:sp>
      <p:sp>
        <p:nvSpPr>
          <p:cNvPr id="19" name="Text 17"/>
          <p:cNvSpPr/>
          <p:nvPr/>
        </p:nvSpPr>
        <p:spPr>
          <a:xfrm>
            <a:off x="2834640" y="2350008"/>
            <a:ext cx="2194560" cy="18288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Close BDR-sourced deals</a:t>
            </a:r>
            <a:endParaRPr lang="en-US" sz="850" dirty="0"/>
          </a:p>
        </p:txBody>
      </p:sp>
      <p:sp>
        <p:nvSpPr>
          <p:cNvPr id="20" name="Text 18"/>
          <p:cNvSpPr/>
          <p:nvPr/>
        </p:nvSpPr>
        <p:spPr>
          <a:xfrm>
            <a:off x="731520" y="2743200"/>
            <a:ext cx="4572000" cy="1005840"/>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2 BDR : 1 AE ratio (no full-cycle AEs)</a:t>
            </a:r>
            <a:endParaRPr lang="en-US" sz="1050" dirty="0"/>
          </a:p>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Round-robin lead assignment (no BDR-AE pairing)</a:t>
            </a:r>
            <a:endParaRPr lang="en-US" sz="1050" dirty="0"/>
          </a:p>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83% BDR hiring success rate over 23 months</a:t>
            </a:r>
            <a:endParaRPr lang="en-US" sz="1050" dirty="0"/>
          </a:p>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7 BDR-to-AE promotions in 24 months</a:t>
            </a:r>
            <a:endParaRPr lang="en-US" sz="1050" dirty="0"/>
          </a:p>
          <a:p>
            <a:pPr marL="342900" indent="-342900">
              <a:spcAft>
                <a:spcPts val="200"/>
              </a:spcAft>
              <a:buSzPct val="100000"/>
              <a:buChar char="•"/>
            </a:pPr>
            <a:r>
              <a:rPr lang="en-US" sz="1050" dirty="0">
                <a:solidFill>
                  <a:srgbClr val="4A5568"/>
                </a:solidFill>
                <a:latin typeface="Calibri" pitchFamily="34" charset="0"/>
                <a:ea typeface="Calibri" pitchFamily="34" charset="-122"/>
                <a:cs typeface="Calibri" pitchFamily="34" charset="-120"/>
              </a:rPr>
              <a:t>Comp tied to customer outcomes, not just bookings</a:t>
            </a:r>
            <a:endParaRPr lang="en-US" sz="1050" dirty="0"/>
          </a:p>
        </p:txBody>
      </p:sp>
      <p:sp>
        <p:nvSpPr>
          <p:cNvPr id="21" name="Shape 19"/>
          <p:cNvSpPr/>
          <p:nvPr/>
        </p:nvSpPr>
        <p:spPr>
          <a:xfrm>
            <a:off x="5669280" y="1143000"/>
            <a:ext cx="3017520" cy="2743200"/>
          </a:xfrm>
          <a:prstGeom prst="rectangle">
            <a:avLst/>
          </a:prstGeom>
          <a:solidFill>
            <a:srgbClr val="1B2A4A"/>
          </a:solidFill>
          <a:ln/>
          <a:effectLst>
            <a:outerShdw sx="100000" sy="100000" kx="0" ky="0" algn="bl" rotWithShape="0" blurRad="50800" dist="25400" dir="8100000">
              <a:srgbClr val="000000">
                <a:alpha val="10000"/>
              </a:srgbClr>
            </a:outerShdw>
          </a:effectLst>
        </p:spPr>
      </p:sp>
      <p:pic>
        <p:nvPicPr>
          <p:cNvPr id="22" name="Image 0" descr="preencoded.png">    </p:cNvPr>
          <p:cNvPicPr>
            <a:picLocks noChangeAspect="1"/>
          </p:cNvPicPr>
          <p:nvPr/>
        </p:nvPicPr>
        <p:blipFill>
          <a:blip r:embed="rId1"/>
          <a:stretch>
            <a:fillRect/>
          </a:stretch>
        </p:blipFill>
        <p:spPr>
          <a:xfrm>
            <a:off x="5806440" y="1280160"/>
            <a:ext cx="201168" cy="201168"/>
          </a:xfrm>
          <a:prstGeom prst="rect">
            <a:avLst/>
          </a:prstGeom>
        </p:spPr>
      </p:pic>
      <p:sp>
        <p:nvSpPr>
          <p:cNvPr id="23" name="Text 20"/>
          <p:cNvSpPr/>
          <p:nvPr/>
        </p:nvSpPr>
        <p:spPr>
          <a:xfrm>
            <a:off x="6035040" y="1280160"/>
            <a:ext cx="2468880" cy="228600"/>
          </a:xfrm>
          <a:prstGeom prst="rect">
            <a:avLst/>
          </a:prstGeom>
          <a:noFill/>
          <a:ln/>
        </p:spPr>
        <p:txBody>
          <a:bodyPr wrap="square" lIns="0" tIns="0" rIns="0" bIns="0" rtlCol="0" anchor="ctr"/>
          <a:lstStyle/>
          <a:p>
            <a:pPr indent="0" marL="0">
              <a:buNone/>
            </a:pPr>
            <a:r>
              <a:rPr lang="en-US" sz="1000" b="1" spc="200" kern="0" dirty="0">
                <a:solidFill>
                  <a:srgbClr val="D4A843"/>
                </a:solidFill>
                <a:latin typeface="Calibri" pitchFamily="34" charset="0"/>
                <a:ea typeface="Calibri" pitchFamily="34" charset="-122"/>
                <a:cs typeface="Calibri" pitchFamily="34" charset="-120"/>
              </a:rPr>
              <a:t>FOR HARMONIA</a:t>
            </a:r>
            <a:endParaRPr lang="en-US" sz="1000" dirty="0"/>
          </a:p>
        </p:txBody>
      </p:sp>
      <p:sp>
        <p:nvSpPr>
          <p:cNvPr id="24" name="Text 21"/>
          <p:cNvSpPr/>
          <p:nvPr/>
        </p:nvSpPr>
        <p:spPr>
          <a:xfrm>
            <a:off x="5806440" y="1600200"/>
            <a:ext cx="2743200" cy="219456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Voice AI (Sam) handles inbound qualification — acts as a virtual SDR team</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Set &amp; Save workflow acts as the outbound BDR engine for new leads</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Lead Reactivation module = dedicated re-engagement team</a:t>
            </a:r>
            <a:endParaRPr lang="en-US" sz="1000" dirty="0"/>
          </a:p>
          <a:p>
            <a:pPr marL="342900" indent="-342900">
              <a:spcAft>
                <a:spcPts val="400"/>
              </a:spcAft>
              <a:buSzPct val="100000"/>
              <a:buChar char="•"/>
            </a:pPr>
            <a:r>
              <a:rPr lang="en-US" sz="1000" dirty="0">
                <a:solidFill>
                  <a:srgbClr val="FFFFFF"/>
                </a:solidFill>
                <a:latin typeface="Calibri" pitchFamily="34" charset="0"/>
                <a:ea typeface="Calibri" pitchFamily="34" charset="-122"/>
                <a:cs typeface="Calibri" pitchFamily="34" charset="-120"/>
              </a:rPr>
              <a:t>As HVAC clients scale, help them build this same specialized team structure</a:t>
            </a:r>
            <a:endParaRPr lang="en-US" sz="1000" dirty="0"/>
          </a:p>
        </p:txBody>
      </p:sp>
      <p:sp>
        <p:nvSpPr>
          <p:cNvPr id="25" name="Shape 22"/>
          <p:cNvSpPr/>
          <p:nvPr/>
        </p:nvSpPr>
        <p:spPr>
          <a:xfrm>
            <a:off x="548640" y="4114800"/>
            <a:ext cx="8138160" cy="640080"/>
          </a:xfrm>
          <a:prstGeom prst="rectangle">
            <a:avLst/>
          </a:prstGeom>
          <a:solidFill>
            <a:srgbClr val="D4A843"/>
          </a:solidFill>
          <a:ln/>
        </p:spPr>
      </p:sp>
      <p:sp>
        <p:nvSpPr>
          <p:cNvPr id="26" name="Text 23"/>
          <p:cNvSpPr/>
          <p:nvPr/>
        </p:nvSpPr>
        <p:spPr>
          <a:xfrm>
            <a:off x="731520" y="4160520"/>
            <a:ext cx="777240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Key Insight: Owner.com's BDRs spend 80% on prospecting vs. industry average of ~40%. Harmonia's AI-first approach can push this even higher for HVAC companies.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OPPORTUNITY 6</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9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AI-Augmented Tech Stack: The Competitive Moat</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138160" cy="914400"/>
        </p:xfrm>
        <a:graphic>
          <a:graphicData uri="http://schemas.openxmlformats.org/drawingml/2006/table">
            <a:tbl>
              <a:tblPr/>
              <a:tblGrid>
                <a:gridCol w="1645920"/>
                <a:gridCol w="1645920"/>
                <a:gridCol w="2286000"/>
                <a:gridCol w="2560320"/>
              </a:tblGrid>
              <a:tr h="32004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Function</a:t>
                      </a:r>
                      <a:endParaRPr lang="en-US" sz="100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Owner.com</a:t>
                      </a:r>
                      <a:endParaRPr lang="en-US" sz="100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Harmonia (Current)</a:t>
                      </a:r>
                      <a:endParaRPr lang="en-US" sz="100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Harmonia (Opportunity)</a:t>
                      </a:r>
                      <a:endParaRPr lang="en-US" sz="100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D4A843"/>
                    </a:solidFill>
                  </a:tcPr>
                </a:tc>
              </a:tr>
              <a:tr h="292608">
                <a:tc>
                  <a:txBody>
                    <a:bodyPr/>
                    <a:lstStyle/>
                    <a:p>
                      <a:pPr algn="l" indent="0" marL="0">
                        <a:buNone/>
                      </a:pPr>
                      <a:r>
                        <a:rPr lang="en-US" sz="950" dirty="0">
                          <a:solidFill>
                            <a:srgbClr val="4A5568"/>
                          </a:solidFill>
                          <a:latin typeface="Calibri" pitchFamily="34" charset="0"/>
                          <a:ea typeface="Calibri" pitchFamily="34" charset="-122"/>
                          <a:cs typeface="Calibri" pitchFamily="34" charset="-120"/>
                        </a:rPr>
                        <a:t>Data Warehouse</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Snowflake</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Airtable</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Airtable + analytics layer</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F0EDE4"/>
                    </a:solidFill>
                  </a:tcPr>
                </a:tc>
              </a:tr>
              <a:tr h="292608">
                <a:tc>
                  <a:txBody>
                    <a:bodyPr/>
                    <a:lstStyle/>
                    <a:p>
                      <a:pPr algn="l" indent="0" marL="0">
                        <a:buNone/>
                      </a:pPr>
                      <a:r>
                        <a:rPr lang="en-US" sz="950" dirty="0">
                          <a:solidFill>
                            <a:srgbClr val="4A5568"/>
                          </a:solidFill>
                          <a:latin typeface="Calibri" pitchFamily="34" charset="0"/>
                          <a:ea typeface="Calibri" pitchFamily="34" charset="-122"/>
                          <a:cs typeface="Calibri" pitchFamily="34" charset="-120"/>
                        </a:rPr>
                        <a:t>Sales Engagement</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SalesLoft</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n8n + Twilio/SendGrid</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n8n sequences + scoring</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F0EDE4"/>
                    </a:solidFill>
                  </a:tcPr>
                </a:tc>
              </a:tr>
              <a:tr h="292608">
                <a:tc>
                  <a:txBody>
                    <a:bodyPr/>
                    <a:lstStyle/>
                    <a:p>
                      <a:pPr algn="l" indent="0" marL="0">
                        <a:buNone/>
                      </a:pPr>
                      <a:r>
                        <a:rPr lang="en-US" sz="950" dirty="0">
                          <a:solidFill>
                            <a:srgbClr val="4A5568"/>
                          </a:solidFill>
                          <a:latin typeface="Calibri" pitchFamily="34" charset="0"/>
                          <a:ea typeface="Calibri" pitchFamily="34" charset="-122"/>
                          <a:cs typeface="Calibri" pitchFamily="34" charset="-120"/>
                        </a:rPr>
                        <a:t>Voice AI</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Vapi + GPT-4o + ElevenLabs</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Add AI sim training</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F0EDE4"/>
                    </a:solidFill>
                  </a:tcPr>
                </a:tc>
              </a:tr>
              <a:tr h="292608">
                <a:tc>
                  <a:txBody>
                    <a:bodyPr/>
                    <a:lstStyle/>
                    <a:p>
                      <a:pPr algn="l" indent="0" marL="0">
                        <a:buNone/>
                      </a:pPr>
                      <a:r>
                        <a:rPr lang="en-US" sz="950" dirty="0">
                          <a:solidFill>
                            <a:srgbClr val="4A5568"/>
                          </a:solidFill>
                          <a:latin typeface="Calibri" pitchFamily="34" charset="0"/>
                          <a:ea typeface="Calibri" pitchFamily="34" charset="-122"/>
                          <a:cs typeface="Calibri" pitchFamily="34" charset="-120"/>
                        </a:rPr>
                        <a:t>Call Intelligence</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Momentum (AI)</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Vapi transcripts</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Auto-extract &amp; coach</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F0EDE4"/>
                    </a:solidFill>
                  </a:tcPr>
                </a:tc>
              </a:tr>
              <a:tr h="292608">
                <a:tc>
                  <a:txBody>
                    <a:bodyPr/>
                    <a:lstStyle/>
                    <a:p>
                      <a:pPr algn="l" indent="0" marL="0">
                        <a:buNone/>
                      </a:pPr>
                      <a:r>
                        <a:rPr lang="en-US" sz="950" dirty="0">
                          <a:solidFill>
                            <a:srgbClr val="4A5568"/>
                          </a:solidFill>
                          <a:latin typeface="Calibri" pitchFamily="34" charset="0"/>
                          <a:ea typeface="Calibri" pitchFamily="34" charset="-122"/>
                          <a:cs typeface="Calibri" pitchFamily="34" charset="-120"/>
                        </a:rPr>
                        <a:t>Onboarding</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Avarra (AI sims)</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AI sim for HVAC scripts</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F0EDE4"/>
                    </a:solidFill>
                  </a:tcPr>
                </a:tc>
              </a:tr>
              <a:tr h="292608">
                <a:tc>
                  <a:txBody>
                    <a:bodyPr/>
                    <a:lstStyle/>
                    <a:p>
                      <a:pPr algn="l" indent="0" marL="0">
                        <a:buNone/>
                      </a:pPr>
                      <a:r>
                        <a:rPr lang="en-US" sz="950" dirty="0">
                          <a:solidFill>
                            <a:srgbClr val="4A5568"/>
                          </a:solidFill>
                          <a:latin typeface="Calibri" pitchFamily="34" charset="0"/>
                          <a:ea typeface="Calibri" pitchFamily="34" charset="-122"/>
                          <a:cs typeface="Calibri" pitchFamily="34" charset="-120"/>
                        </a:rPr>
                        <a:t>CRM</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Salesforce</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ServiceTitan + Airtable</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Deeper ST integration</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F0EDE4"/>
                    </a:solidFill>
                  </a:tcPr>
                </a:tc>
              </a:tr>
              <a:tr h="292608">
                <a:tc>
                  <a:txBody>
                    <a:bodyPr/>
                    <a:lstStyle/>
                    <a:p>
                      <a:pPr algn="l" indent="0" marL="0">
                        <a:buNone/>
                      </a:pPr>
                      <a:r>
                        <a:rPr lang="en-US" sz="950" dirty="0">
                          <a:solidFill>
                            <a:srgbClr val="4A5568"/>
                          </a:solidFill>
                          <a:latin typeface="Calibri" pitchFamily="34" charset="0"/>
                          <a:ea typeface="Calibri" pitchFamily="34" charset="-122"/>
                          <a:cs typeface="Calibri" pitchFamily="34" charset="-120"/>
                        </a:rPr>
                        <a:t>Account Scoring</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ML models</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Rule-based (HOT/WARM)</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Predictive ML scoring</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F0EDE4"/>
                    </a:solidFill>
                  </a:tcPr>
                </a:tc>
              </a:tr>
              <a:tr h="292608">
                <a:tc>
                  <a:txBody>
                    <a:bodyPr/>
                    <a:lstStyle/>
                    <a:p>
                      <a:pPr algn="l" indent="0" marL="0">
                        <a:buNone/>
                      </a:pPr>
                      <a:r>
                        <a:rPr lang="en-US" sz="950" dirty="0">
                          <a:solidFill>
                            <a:srgbClr val="4A5568"/>
                          </a:solidFill>
                          <a:latin typeface="Calibri" pitchFamily="34" charset="0"/>
                          <a:ea typeface="Calibri" pitchFamily="34" charset="-122"/>
                          <a:cs typeface="Calibri" pitchFamily="34" charset="-120"/>
                        </a:rPr>
                        <a:t>Knowledge Base</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Guru</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tcPr>
                </a:tc>
                <a:tc>
                  <a:txBody>
                    <a:bodyPr/>
                    <a:lstStyle/>
                    <a:p>
                      <a:pPr algn="ctr" indent="0" marL="0">
                        <a:buNone/>
                      </a:pPr>
                      <a:r>
                        <a:rPr lang="en-US" sz="950" dirty="0">
                          <a:solidFill>
                            <a:srgbClr val="4A5568"/>
                          </a:solidFill>
                          <a:latin typeface="Calibri" pitchFamily="34" charset="0"/>
                          <a:ea typeface="Calibri" pitchFamily="34" charset="-122"/>
                          <a:cs typeface="Calibri" pitchFamily="34" charset="-120"/>
                        </a:rPr>
                        <a:t>Centralized playbook</a:t>
                      </a:r>
                      <a:endParaRPr lang="en-US" sz="950" dirty="0">
                        <a:latin typeface="Calibri" charset="0"/>
                        <a:ea typeface="Calibri" charset="0"/>
                        <a:cs typeface="Calibri" charset="0"/>
                      </a:endParaRPr>
                    </a:p>
                  </a:txBody>
                  <a:tcPr marL="91440" marR="91440" marT="45720" marB="45720">
                    <a:lnL w="6350" cap="flat" cmpd="sng" algn="ctr">
                      <a:solidFill>
                        <a:srgbClr val="E2E5EB"/>
                      </a:solidFill>
                      <a:prstDash val="solid"/>
                      <a:round/>
                      <a:headEnd type="none" w="med" len="med"/>
                      <a:tailEnd type="none" w="med" len="med"/>
                    </a:lnL>
                    <a:lnR w="6350" cap="flat" cmpd="sng" algn="ctr">
                      <a:solidFill>
                        <a:srgbClr val="E2E5EB"/>
                      </a:solidFill>
                      <a:prstDash val="solid"/>
                      <a:round/>
                      <a:headEnd type="none" w="med" len="med"/>
                      <a:tailEnd type="none" w="med" len="med"/>
                    </a:lnR>
                    <a:lnT w="6350" cap="flat" cmpd="sng" algn="ctr">
                      <a:solidFill>
                        <a:srgbClr val="E2E5EB"/>
                      </a:solidFill>
                      <a:prstDash val="solid"/>
                      <a:round/>
                      <a:headEnd type="none" w="med" len="med"/>
                      <a:tailEnd type="none" w="med" len="med"/>
                    </a:lnT>
                    <a:lnB w="6350" cap="flat" cmpd="sng" algn="ctr">
                      <a:solidFill>
                        <a:srgbClr val="E2E5EB"/>
                      </a:solidFill>
                      <a:prstDash val="solid"/>
                      <a:round/>
                      <a:headEnd type="none" w="med" len="med"/>
                      <a:tailEnd type="none" w="med" len="med"/>
                    </a:lnB>
                    <a:solidFill>
                      <a:srgbClr val="F0EDE4"/>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MESSAGING STRATEGY</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10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Outbound Messaging: Local Proof + Maturity-Based Pitch</a:t>
            </a:r>
            <a:endParaRPr lang="en-US" sz="2200" dirty="0"/>
          </a:p>
        </p:txBody>
      </p:sp>
      <p:sp>
        <p:nvSpPr>
          <p:cNvPr id="6" name="Shape 4"/>
          <p:cNvSpPr/>
          <p:nvPr/>
        </p:nvSpPr>
        <p:spPr>
          <a:xfrm>
            <a:off x="548640" y="1143000"/>
            <a:ext cx="3931920" cy="13716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1143000"/>
            <a:ext cx="54864" cy="1371600"/>
          </a:xfrm>
          <a:prstGeom prst="rectangle">
            <a:avLst/>
          </a:prstGeom>
          <a:solidFill>
            <a:srgbClr val="D4A843"/>
          </a:solidFill>
          <a:ln/>
        </p:spPr>
      </p:sp>
      <p:sp>
        <p:nvSpPr>
          <p:cNvPr id="8" name="Text 6"/>
          <p:cNvSpPr/>
          <p:nvPr/>
        </p:nvSpPr>
        <p:spPr>
          <a:xfrm>
            <a:off x="777240" y="1234440"/>
            <a:ext cx="3474720" cy="274320"/>
          </a:xfrm>
          <a:prstGeom prst="rect">
            <a:avLst/>
          </a:prstGeom>
          <a:noFill/>
          <a:ln/>
        </p:spPr>
        <p:txBody>
          <a:bodyPr wrap="square" lIns="0" tIns="0" rIns="0" bIns="0"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Local Proof Strategy</a:t>
            </a:r>
            <a:endParaRPr lang="en-US" sz="1300" dirty="0"/>
          </a:p>
        </p:txBody>
      </p:sp>
      <p:sp>
        <p:nvSpPr>
          <p:cNvPr id="9" name="Text 7"/>
          <p:cNvSpPr/>
          <p:nvPr/>
        </p:nvSpPr>
        <p:spPr>
          <a:xfrm>
            <a:off x="777240" y="1554480"/>
            <a:ext cx="3474720" cy="82296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Before every call, Ops pulls the closest successful customer to the prospect. BDRs open with a name drop — instant credibility and relevance.</a:t>
            </a:r>
            <a:endParaRPr lang="en-US" sz="1050" dirty="0"/>
          </a:p>
        </p:txBody>
      </p:sp>
      <p:sp>
        <p:nvSpPr>
          <p:cNvPr id="10" name="Shape 8"/>
          <p:cNvSpPr/>
          <p:nvPr/>
        </p:nvSpPr>
        <p:spPr>
          <a:xfrm>
            <a:off x="4663440" y="1143000"/>
            <a:ext cx="4023360" cy="137160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1" name="Shape 9"/>
          <p:cNvSpPr/>
          <p:nvPr/>
        </p:nvSpPr>
        <p:spPr>
          <a:xfrm>
            <a:off x="4663440" y="1143000"/>
            <a:ext cx="54864" cy="1371600"/>
          </a:xfrm>
          <a:prstGeom prst="rectangle">
            <a:avLst/>
          </a:prstGeom>
          <a:solidFill>
            <a:srgbClr val="1A9E8F"/>
          </a:solidFill>
          <a:ln/>
        </p:spPr>
      </p:sp>
      <p:sp>
        <p:nvSpPr>
          <p:cNvPr id="12" name="Text 10"/>
          <p:cNvSpPr/>
          <p:nvPr/>
        </p:nvSpPr>
        <p:spPr>
          <a:xfrm>
            <a:off x="4892040" y="1234440"/>
            <a:ext cx="3657600" cy="274320"/>
          </a:xfrm>
          <a:prstGeom prst="rect">
            <a:avLst/>
          </a:prstGeom>
          <a:noFill/>
          <a:ln/>
        </p:spPr>
        <p:txBody>
          <a:bodyPr wrap="square" lIns="0" tIns="0" rIns="0" bIns="0"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Maturity-Based Pitch</a:t>
            </a:r>
            <a:endParaRPr lang="en-US" sz="1300" dirty="0"/>
          </a:p>
        </p:txBody>
      </p:sp>
      <p:sp>
        <p:nvSpPr>
          <p:cNvPr id="13" name="Text 11"/>
          <p:cNvSpPr/>
          <p:nvPr/>
        </p:nvSpPr>
        <p:spPr>
          <a:xfrm>
            <a:off x="4892040" y="1554480"/>
            <a:ext cx="3657600" cy="822960"/>
          </a:xfrm>
          <a:prstGeom prst="rect">
            <a:avLst/>
          </a:prstGeom>
          <a:noFill/>
          <a:ln/>
        </p:spPr>
        <p:txBody>
          <a:bodyPr wrap="square" lIns="0" tIns="0" rIns="0" bIns="0" rtlCol="0" anchor="ctr"/>
          <a:lstStyle/>
          <a:p>
            <a:pPr indent="0" marL="0">
              <a:buNone/>
            </a:pPr>
            <a:r>
              <a:rPr lang="en-US" sz="1050" dirty="0">
                <a:solidFill>
                  <a:srgbClr val="4A5568"/>
                </a:solidFill>
                <a:latin typeface="Calibri" pitchFamily="34" charset="0"/>
                <a:ea typeface="Calibri" pitchFamily="34" charset="-122"/>
                <a:cs typeface="Calibri" pitchFamily="34" charset="-120"/>
              </a:rPr>
              <a:t>Messaging adapts based on where the prospect is: using 3rd-party apps, has some digital presence, or has no online ordering at all. No generic scripts.</a:t>
            </a:r>
            <a:endParaRPr lang="en-US" sz="1050" dirty="0"/>
          </a:p>
        </p:txBody>
      </p:sp>
      <p:sp>
        <p:nvSpPr>
          <p:cNvPr id="14" name="Shape 12"/>
          <p:cNvSpPr/>
          <p:nvPr/>
        </p:nvSpPr>
        <p:spPr>
          <a:xfrm>
            <a:off x="548640" y="2743200"/>
            <a:ext cx="8138160" cy="2103120"/>
          </a:xfrm>
          <a:prstGeom prst="rectangle">
            <a:avLst/>
          </a:prstGeom>
          <a:solidFill>
            <a:srgbClr val="1B2A4A"/>
          </a:solidFill>
          <a:ln/>
          <a:effectLst>
            <a:outerShdw sx="100000" sy="100000" kx="0" ky="0" algn="bl" rotWithShape="0" blurRad="50800" dist="25400" dir="8100000">
              <a:srgbClr val="000000">
                <a:alpha val="10000"/>
              </a:srgbClr>
            </a:outerShdw>
          </a:effectLst>
        </p:spPr>
      </p:sp>
      <p:pic>
        <p:nvPicPr>
          <p:cNvPr id="15" name="Image 0" descr="preencoded.png">    </p:cNvPr>
          <p:cNvPicPr>
            <a:picLocks noChangeAspect="1"/>
          </p:cNvPicPr>
          <p:nvPr/>
        </p:nvPicPr>
        <p:blipFill>
          <a:blip r:embed="rId1"/>
          <a:stretch>
            <a:fillRect/>
          </a:stretch>
        </p:blipFill>
        <p:spPr>
          <a:xfrm>
            <a:off x="731520" y="2880360"/>
            <a:ext cx="228600" cy="228600"/>
          </a:xfrm>
          <a:prstGeom prst="rect">
            <a:avLst/>
          </a:prstGeom>
        </p:spPr>
      </p:pic>
      <p:sp>
        <p:nvSpPr>
          <p:cNvPr id="16" name="Text 13"/>
          <p:cNvSpPr/>
          <p:nvPr/>
        </p:nvSpPr>
        <p:spPr>
          <a:xfrm>
            <a:off x="1005840" y="2880360"/>
            <a:ext cx="4572000" cy="274320"/>
          </a:xfrm>
          <a:prstGeom prst="rect">
            <a:avLst/>
          </a:prstGeom>
          <a:noFill/>
          <a:ln/>
        </p:spPr>
        <p:txBody>
          <a:bodyPr wrap="square" lIns="0" tIns="0" rIns="0" bIns="0" rtlCol="0" anchor="ctr"/>
          <a:lstStyle/>
          <a:p>
            <a:pPr indent="0" marL="0">
              <a:buNone/>
            </a:pPr>
            <a:r>
              <a:rPr lang="en-US" sz="1000" b="1" spc="200" kern="0" dirty="0">
                <a:solidFill>
                  <a:srgbClr val="D4A843"/>
                </a:solidFill>
                <a:latin typeface="Calibri" pitchFamily="34" charset="0"/>
                <a:ea typeface="Calibri" pitchFamily="34" charset="-122"/>
                <a:cs typeface="Calibri" pitchFamily="34" charset="-120"/>
              </a:rPr>
              <a:t>HARMONIA: APPLY THIS TO HVAC OUTBOUND</a:t>
            </a:r>
            <a:endParaRPr lang="en-US" sz="1000" dirty="0"/>
          </a:p>
        </p:txBody>
      </p:sp>
      <p:sp>
        <p:nvSpPr>
          <p:cNvPr id="17" name="Text 14"/>
          <p:cNvSpPr/>
          <p:nvPr/>
        </p:nvSpPr>
        <p:spPr>
          <a:xfrm>
            <a:off x="731520" y="3291840"/>
            <a:ext cx="2286000" cy="228600"/>
          </a:xfrm>
          <a:prstGeom prst="rect">
            <a:avLst/>
          </a:prstGeom>
          <a:noFill/>
          <a:ln/>
        </p:spPr>
        <p:txBody>
          <a:bodyPr wrap="square" lIns="0" tIns="0" rIns="0" bIns="0" rtlCol="0" anchor="ctr"/>
          <a:lstStyle/>
          <a:p>
            <a:pPr indent="0" marL="0">
              <a:buNone/>
            </a:pPr>
            <a:r>
              <a:rPr lang="en-US" sz="1100" b="1" dirty="0">
                <a:solidFill>
                  <a:srgbClr val="F0D78C"/>
                </a:solidFill>
                <a:latin typeface="Calibri" pitchFamily="34" charset="0"/>
                <a:ea typeface="Calibri" pitchFamily="34" charset="-122"/>
                <a:cs typeface="Calibri" pitchFamily="34" charset="-120"/>
              </a:rPr>
              <a:t>Local Proof for HVAC</a:t>
            </a:r>
            <a:endParaRPr lang="en-US" sz="1100" dirty="0"/>
          </a:p>
        </p:txBody>
      </p:sp>
      <p:sp>
        <p:nvSpPr>
          <p:cNvPr id="18" name="Text 15"/>
          <p:cNvSpPr/>
          <p:nvPr/>
        </p:nvSpPr>
        <p:spPr>
          <a:xfrm>
            <a:off x="3017520" y="3291840"/>
            <a:ext cx="5577840" cy="502920"/>
          </a:xfrm>
          <a:prstGeom prst="rect">
            <a:avLst/>
          </a:prstGeom>
          <a:noFill/>
          <a:ln/>
        </p:spPr>
        <p:txBody>
          <a:bodyPr wrap="square" lIns="0" tIns="0" rIns="0" bIns="0" rtlCol="0" anchor="ctr"/>
          <a:lstStyle/>
          <a:p>
            <a:pPr indent="0" marL="0">
              <a:buNone/>
            </a:pPr>
            <a:r>
              <a:rPr lang="en-US" sz="1000" dirty="0">
                <a:solidFill>
                  <a:srgbClr val="E2E5EB"/>
                </a:solidFill>
                <a:latin typeface="Calibri" pitchFamily="34" charset="0"/>
                <a:ea typeface="Calibri" pitchFamily="34" charset="-122"/>
                <a:cs typeface="Calibri" pitchFamily="34" charset="-120"/>
              </a:rPr>
              <a:t>Auto-pull nearest ServiceTitan customer success story. "We just helped Johnson's HVAC on Main Street save $15K in missed calls last quarter — do you know them?"</a:t>
            </a:r>
            <a:endParaRPr lang="en-US" sz="1000" dirty="0"/>
          </a:p>
        </p:txBody>
      </p:sp>
      <p:sp>
        <p:nvSpPr>
          <p:cNvPr id="19" name="Text 16"/>
          <p:cNvSpPr/>
          <p:nvPr/>
        </p:nvSpPr>
        <p:spPr>
          <a:xfrm>
            <a:off x="731520" y="3931920"/>
            <a:ext cx="2286000" cy="228600"/>
          </a:xfrm>
          <a:prstGeom prst="rect">
            <a:avLst/>
          </a:prstGeom>
          <a:noFill/>
          <a:ln/>
        </p:spPr>
        <p:txBody>
          <a:bodyPr wrap="square" lIns="0" tIns="0" rIns="0" bIns="0" rtlCol="0" anchor="ctr"/>
          <a:lstStyle/>
          <a:p>
            <a:pPr indent="0" marL="0">
              <a:buNone/>
            </a:pPr>
            <a:r>
              <a:rPr lang="en-US" sz="1100" b="1" dirty="0">
                <a:solidFill>
                  <a:srgbClr val="F0D78C"/>
                </a:solidFill>
                <a:latin typeface="Calibri" pitchFamily="34" charset="0"/>
                <a:ea typeface="Calibri" pitchFamily="34" charset="-122"/>
                <a:cs typeface="Calibri" pitchFamily="34" charset="-120"/>
              </a:rPr>
              <a:t>Maturity-Based Scripts</a:t>
            </a:r>
            <a:endParaRPr lang="en-US" sz="1100" dirty="0"/>
          </a:p>
        </p:txBody>
      </p:sp>
      <p:sp>
        <p:nvSpPr>
          <p:cNvPr id="20" name="Text 17"/>
          <p:cNvSpPr/>
          <p:nvPr/>
        </p:nvSpPr>
        <p:spPr>
          <a:xfrm>
            <a:off x="3017520" y="3931920"/>
            <a:ext cx="5577840" cy="502920"/>
          </a:xfrm>
          <a:prstGeom prst="rect">
            <a:avLst/>
          </a:prstGeom>
          <a:noFill/>
          <a:ln/>
        </p:spPr>
        <p:txBody>
          <a:bodyPr wrap="square" lIns="0" tIns="0" rIns="0" bIns="0" rtlCol="0" anchor="ctr"/>
          <a:lstStyle/>
          <a:p>
            <a:pPr indent="0" marL="0">
              <a:buNone/>
            </a:pPr>
            <a:r>
              <a:rPr lang="en-US" sz="1000" dirty="0">
                <a:solidFill>
                  <a:srgbClr val="E2E5EB"/>
                </a:solidFill>
                <a:latin typeface="Calibri" pitchFamily="34" charset="0"/>
                <a:ea typeface="Calibri" pitchFamily="34" charset="-122"/>
                <a:cs typeface="Calibri" pitchFamily="34" charset="-120"/>
              </a:rPr>
              <a:t>Adapt Voice AI scripts: emergency callers get fast booking, maintenance leads get education, reactivation leads get seasonal offers.</a:t>
            </a:r>
            <a:endParaRPr lang="en-US" sz="1000" dirty="0"/>
          </a:p>
        </p:txBody>
      </p:sp>
      <p:sp>
        <p:nvSpPr>
          <p:cNvPr id="21" name="Text 18"/>
          <p:cNvSpPr/>
          <p:nvPr/>
        </p:nvSpPr>
        <p:spPr>
          <a:xfrm>
            <a:off x="731520" y="4572000"/>
            <a:ext cx="2286000" cy="228600"/>
          </a:xfrm>
          <a:prstGeom prst="rect">
            <a:avLst/>
          </a:prstGeom>
          <a:noFill/>
          <a:ln/>
        </p:spPr>
        <p:txBody>
          <a:bodyPr wrap="square" lIns="0" tIns="0" rIns="0" bIns="0" rtlCol="0" anchor="ctr"/>
          <a:lstStyle/>
          <a:p>
            <a:pPr indent="0" marL="0">
              <a:buNone/>
            </a:pPr>
            <a:r>
              <a:rPr lang="en-US" sz="1100" b="1" dirty="0">
                <a:solidFill>
                  <a:srgbClr val="F0D78C"/>
                </a:solidFill>
                <a:latin typeface="Calibri" pitchFamily="34" charset="0"/>
                <a:ea typeface="Calibri" pitchFamily="34" charset="-122"/>
                <a:cs typeface="Calibri" pitchFamily="34" charset="-120"/>
              </a:rPr>
              <a:t>Lead Reactivation Messaging</a:t>
            </a:r>
            <a:endParaRPr lang="en-US" sz="1100" dirty="0"/>
          </a:p>
        </p:txBody>
      </p:sp>
      <p:sp>
        <p:nvSpPr>
          <p:cNvPr id="22" name="Text 19"/>
          <p:cNvSpPr/>
          <p:nvPr/>
        </p:nvSpPr>
        <p:spPr>
          <a:xfrm>
            <a:off x="3017520" y="4572000"/>
            <a:ext cx="5577840" cy="502920"/>
          </a:xfrm>
          <a:prstGeom prst="rect">
            <a:avLst/>
          </a:prstGeom>
          <a:noFill/>
          <a:ln/>
        </p:spPr>
        <p:txBody>
          <a:bodyPr wrap="square" lIns="0" tIns="0" rIns="0" bIns="0" rtlCol="0" anchor="ctr"/>
          <a:lstStyle/>
          <a:p>
            <a:pPr indent="0" marL="0">
              <a:buNone/>
            </a:pPr>
            <a:r>
              <a:rPr lang="en-US" sz="1000" dirty="0">
                <a:solidFill>
                  <a:srgbClr val="E2E5EB"/>
                </a:solidFill>
                <a:latin typeface="Calibri" pitchFamily="34" charset="0"/>
                <a:ea typeface="Calibri" pitchFamily="34" charset="-122"/>
                <a:cs typeface="Calibri" pitchFamily="34" charset="-120"/>
              </a:rPr>
              <a:t>SMS/email campaigns to closed-lost leads with intent classification — mirror Owner's account maturity approach for re-engagement.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EXPECTED IMPACT</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11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Projected Impact: Applying the Owner.com Playbook</a:t>
            </a:r>
            <a:endParaRPr lang="en-US" sz="2200" dirty="0"/>
          </a:p>
        </p:txBody>
      </p:sp>
      <p:sp>
        <p:nvSpPr>
          <p:cNvPr id="6" name="Shape 4"/>
          <p:cNvSpPr/>
          <p:nvPr/>
        </p:nvSpPr>
        <p:spPr>
          <a:xfrm>
            <a:off x="548640" y="1143000"/>
            <a:ext cx="1965960" cy="237744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1143000"/>
            <a:ext cx="1965960" cy="36576"/>
          </a:xfrm>
          <a:prstGeom prst="rectangle">
            <a:avLst/>
          </a:prstGeom>
          <a:solidFill>
            <a:srgbClr val="D4A843"/>
          </a:solidFill>
          <a:ln/>
        </p:spPr>
      </p:sp>
      <p:sp>
        <p:nvSpPr>
          <p:cNvPr id="8" name="Text 6"/>
          <p:cNvSpPr/>
          <p:nvPr/>
        </p:nvSpPr>
        <p:spPr>
          <a:xfrm>
            <a:off x="548640" y="1325880"/>
            <a:ext cx="1965960" cy="640080"/>
          </a:xfrm>
          <a:prstGeom prst="rect">
            <a:avLst/>
          </a:prstGeom>
          <a:noFill/>
          <a:ln/>
        </p:spPr>
        <p:txBody>
          <a:bodyPr wrap="square" lIns="0" tIns="0" rIns="0" bIns="0" rtlCol="0" anchor="ctr"/>
          <a:lstStyle/>
          <a:p>
            <a:pPr algn="ctr" indent="0" marL="0">
              <a:buNone/>
            </a:pPr>
            <a:r>
              <a:rPr lang="en-US" sz="3600" b="1" dirty="0">
                <a:solidFill>
                  <a:srgbClr val="D4A843"/>
                </a:solidFill>
                <a:latin typeface="Georgia" pitchFamily="34" charset="0"/>
                <a:ea typeface="Georgia" pitchFamily="34" charset="-122"/>
                <a:cs typeface="Georgia" pitchFamily="34" charset="-120"/>
              </a:rPr>
              <a:t>2-5x</a:t>
            </a:r>
            <a:endParaRPr lang="en-US" sz="3600" dirty="0"/>
          </a:p>
        </p:txBody>
      </p:sp>
      <p:sp>
        <p:nvSpPr>
          <p:cNvPr id="9" name="Text 7"/>
          <p:cNvSpPr/>
          <p:nvPr/>
        </p:nvSpPr>
        <p:spPr>
          <a:xfrm>
            <a:off x="685800" y="2011680"/>
            <a:ext cx="1691640" cy="5029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Improvement in</a:t>
            </a:r>
            <a:endParaRPr lang="en-US" sz="1100" dirty="0"/>
          </a:p>
          <a:p>
            <a:pPr algn="ctr" indent="0" marL="0">
              <a:buNone/>
            </a:pPr>
            <a:r>
              <a:rPr lang="en-US" sz="1100" b="1" dirty="0">
                <a:solidFill>
                  <a:srgbClr val="1B2A4A"/>
                </a:solidFill>
                <a:latin typeface="Calibri" pitchFamily="34" charset="0"/>
                <a:ea typeface="Calibri" pitchFamily="34" charset="-122"/>
                <a:cs typeface="Calibri" pitchFamily="34" charset="-120"/>
              </a:rPr>
              <a:t>connect rates</a:t>
            </a:r>
            <a:endParaRPr lang="en-US" sz="1100" dirty="0"/>
          </a:p>
        </p:txBody>
      </p:sp>
      <p:sp>
        <p:nvSpPr>
          <p:cNvPr id="10" name="Text 8"/>
          <p:cNvSpPr/>
          <p:nvPr/>
        </p:nvSpPr>
        <p:spPr>
          <a:xfrm>
            <a:off x="685800" y="2560320"/>
            <a:ext cx="1691640" cy="822960"/>
          </a:xfrm>
          <a:prstGeom prst="rect">
            <a:avLst/>
          </a:prstGeom>
          <a:noFill/>
          <a:ln/>
        </p:spPr>
        <p:txBody>
          <a:bodyPr wrap="square" lIns="0" tIns="0" rIns="0" bIns="0" rtlCol="0" anchor="ctr"/>
          <a:lstStyle/>
          <a:p>
            <a:pPr algn="ctr" indent="0" marL="0">
              <a:buNone/>
            </a:pPr>
            <a:r>
              <a:rPr lang="en-US" sz="950" dirty="0">
                <a:solidFill>
                  <a:srgbClr val="8D95A3"/>
                </a:solidFill>
                <a:latin typeface="Calibri" pitchFamily="34" charset="0"/>
                <a:ea typeface="Calibri" pitchFamily="34" charset="-122"/>
                <a:cs typeface="Calibri" pitchFamily="34" charset="-120"/>
              </a:rPr>
              <a:t>From clean data +</a:t>
            </a:r>
            <a:endParaRPr lang="en-US" sz="950" dirty="0"/>
          </a:p>
          <a:p>
            <a:pPr algn="ctr" indent="0" marL="0">
              <a:buNone/>
            </a:pPr>
            <a:r>
              <a:rPr lang="en-US" sz="950" dirty="0">
                <a:solidFill>
                  <a:srgbClr val="8D95A3"/>
                </a:solidFill>
                <a:latin typeface="Calibri" pitchFamily="34" charset="0"/>
                <a:ea typeface="Calibri" pitchFamily="34" charset="-122"/>
                <a:cs typeface="Calibri" pitchFamily="34" charset="-120"/>
              </a:rPr>
              <a:t>enriched phone numbers</a:t>
            </a:r>
            <a:endParaRPr lang="en-US" sz="950" dirty="0"/>
          </a:p>
        </p:txBody>
      </p:sp>
      <p:sp>
        <p:nvSpPr>
          <p:cNvPr id="11" name="Shape 9"/>
          <p:cNvSpPr/>
          <p:nvPr/>
        </p:nvSpPr>
        <p:spPr>
          <a:xfrm>
            <a:off x="2697480" y="1143000"/>
            <a:ext cx="1965960" cy="237744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2" name="Shape 10"/>
          <p:cNvSpPr/>
          <p:nvPr/>
        </p:nvSpPr>
        <p:spPr>
          <a:xfrm>
            <a:off x="2697480" y="1143000"/>
            <a:ext cx="1965960" cy="36576"/>
          </a:xfrm>
          <a:prstGeom prst="rectangle">
            <a:avLst/>
          </a:prstGeom>
          <a:solidFill>
            <a:srgbClr val="1A9E8F"/>
          </a:solidFill>
          <a:ln/>
        </p:spPr>
      </p:sp>
      <p:sp>
        <p:nvSpPr>
          <p:cNvPr id="13" name="Text 11"/>
          <p:cNvSpPr/>
          <p:nvPr/>
        </p:nvSpPr>
        <p:spPr>
          <a:xfrm>
            <a:off x="2697480" y="1325880"/>
            <a:ext cx="1965960" cy="640080"/>
          </a:xfrm>
          <a:prstGeom prst="rect">
            <a:avLst/>
          </a:prstGeom>
          <a:noFill/>
          <a:ln/>
        </p:spPr>
        <p:txBody>
          <a:bodyPr wrap="square" lIns="0" tIns="0" rIns="0" bIns="0" rtlCol="0" anchor="ctr"/>
          <a:lstStyle/>
          <a:p>
            <a:pPr algn="ctr" indent="0" marL="0">
              <a:buNone/>
            </a:pPr>
            <a:r>
              <a:rPr lang="en-US" sz="3600" b="1" dirty="0">
                <a:solidFill>
                  <a:srgbClr val="1A9E8F"/>
                </a:solidFill>
                <a:latin typeface="Georgia" pitchFamily="34" charset="0"/>
                <a:ea typeface="Georgia" pitchFamily="34" charset="-122"/>
                <a:cs typeface="Georgia" pitchFamily="34" charset="-120"/>
              </a:rPr>
              <a:t>4x</a:t>
            </a:r>
            <a:endParaRPr lang="en-US" sz="3600" dirty="0"/>
          </a:p>
        </p:txBody>
      </p:sp>
      <p:sp>
        <p:nvSpPr>
          <p:cNvPr id="14" name="Text 12"/>
          <p:cNvSpPr/>
          <p:nvPr/>
        </p:nvSpPr>
        <p:spPr>
          <a:xfrm>
            <a:off x="2834640" y="2011680"/>
            <a:ext cx="1691640" cy="5029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Booking rate</a:t>
            </a:r>
            <a:endParaRPr lang="en-US" sz="1100" dirty="0"/>
          </a:p>
          <a:p>
            <a:pPr algn="ctr" indent="0" marL="0">
              <a:buNone/>
            </a:pPr>
            <a:r>
              <a:rPr lang="en-US" sz="1100" b="1" dirty="0">
                <a:solidFill>
                  <a:srgbClr val="1B2A4A"/>
                </a:solidFill>
                <a:latin typeface="Calibri" pitchFamily="34" charset="0"/>
                <a:ea typeface="Calibri" pitchFamily="34" charset="-122"/>
                <a:cs typeface="Calibri" pitchFamily="34" charset="-120"/>
              </a:rPr>
              <a:t>improvement</a:t>
            </a:r>
            <a:endParaRPr lang="en-US" sz="1100" dirty="0"/>
          </a:p>
        </p:txBody>
      </p:sp>
      <p:sp>
        <p:nvSpPr>
          <p:cNvPr id="15" name="Text 13"/>
          <p:cNvSpPr/>
          <p:nvPr/>
        </p:nvSpPr>
        <p:spPr>
          <a:xfrm>
            <a:off x="2834640" y="2560320"/>
            <a:ext cx="1691640" cy="822960"/>
          </a:xfrm>
          <a:prstGeom prst="rect">
            <a:avLst/>
          </a:prstGeom>
          <a:noFill/>
          <a:ln/>
        </p:spPr>
        <p:txBody>
          <a:bodyPr wrap="square" lIns="0" tIns="0" rIns="0" bIns="0" rtlCol="0" anchor="ctr"/>
          <a:lstStyle/>
          <a:p>
            <a:pPr algn="ctr" indent="0" marL="0">
              <a:buNone/>
            </a:pPr>
            <a:r>
              <a:rPr lang="en-US" sz="950" dirty="0">
                <a:solidFill>
                  <a:srgbClr val="8D95A3"/>
                </a:solidFill>
                <a:latin typeface="Calibri" pitchFamily="34" charset="0"/>
                <a:ea typeface="Calibri" pitchFamily="34" charset="-122"/>
                <a:cs typeface="Calibri" pitchFamily="34" charset="-120"/>
              </a:rPr>
              <a:t>From 4% to 16%</a:t>
            </a:r>
            <a:endParaRPr lang="en-US" sz="950" dirty="0"/>
          </a:p>
          <a:p>
            <a:pPr algn="ctr" indent="0" marL="0">
              <a:buNone/>
            </a:pPr>
            <a:r>
              <a:rPr lang="en-US" sz="950" dirty="0">
                <a:solidFill>
                  <a:srgbClr val="8D95A3"/>
                </a:solidFill>
                <a:latin typeface="Calibri" pitchFamily="34" charset="0"/>
                <a:ea typeface="Calibri" pitchFamily="34" charset="-122"/>
                <a:cs typeface="Calibri" pitchFamily="34" charset="-120"/>
              </a:rPr>
              <a:t>(Owner's actual result)</a:t>
            </a:r>
            <a:endParaRPr lang="en-US" sz="950" dirty="0"/>
          </a:p>
        </p:txBody>
      </p:sp>
      <p:sp>
        <p:nvSpPr>
          <p:cNvPr id="16" name="Shape 14"/>
          <p:cNvSpPr/>
          <p:nvPr/>
        </p:nvSpPr>
        <p:spPr>
          <a:xfrm>
            <a:off x="4846320" y="1143000"/>
            <a:ext cx="1965960" cy="237744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7" name="Shape 15"/>
          <p:cNvSpPr/>
          <p:nvPr/>
        </p:nvSpPr>
        <p:spPr>
          <a:xfrm>
            <a:off x="4846320" y="1143000"/>
            <a:ext cx="1965960" cy="36576"/>
          </a:xfrm>
          <a:prstGeom prst="rectangle">
            <a:avLst/>
          </a:prstGeom>
          <a:solidFill>
            <a:srgbClr val="3B82F6"/>
          </a:solidFill>
          <a:ln/>
        </p:spPr>
      </p:sp>
      <p:sp>
        <p:nvSpPr>
          <p:cNvPr id="18" name="Text 16"/>
          <p:cNvSpPr/>
          <p:nvPr/>
        </p:nvSpPr>
        <p:spPr>
          <a:xfrm>
            <a:off x="4846320" y="1325880"/>
            <a:ext cx="1965960" cy="640080"/>
          </a:xfrm>
          <a:prstGeom prst="rect">
            <a:avLst/>
          </a:prstGeom>
          <a:noFill/>
          <a:ln/>
        </p:spPr>
        <p:txBody>
          <a:bodyPr wrap="square" lIns="0" tIns="0" rIns="0" bIns="0" rtlCol="0" anchor="ctr"/>
          <a:lstStyle/>
          <a:p>
            <a:pPr algn="ctr" indent="0" marL="0">
              <a:buNone/>
            </a:pPr>
            <a:r>
              <a:rPr lang="en-US" sz="3600" b="1" dirty="0">
                <a:solidFill>
                  <a:srgbClr val="3B82F6"/>
                </a:solidFill>
                <a:latin typeface="Georgia" pitchFamily="34" charset="0"/>
                <a:ea typeface="Georgia" pitchFamily="34" charset="-122"/>
                <a:cs typeface="Georgia" pitchFamily="34" charset="-120"/>
              </a:rPr>
              <a:t>&lt;3mo</a:t>
            </a:r>
            <a:endParaRPr lang="en-US" sz="3600" dirty="0"/>
          </a:p>
        </p:txBody>
      </p:sp>
      <p:sp>
        <p:nvSpPr>
          <p:cNvPr id="19" name="Text 17"/>
          <p:cNvSpPr/>
          <p:nvPr/>
        </p:nvSpPr>
        <p:spPr>
          <a:xfrm>
            <a:off x="4983480" y="2011680"/>
            <a:ext cx="1691640" cy="5029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Rep ramp time</a:t>
            </a:r>
            <a:endParaRPr lang="en-US" sz="1100" dirty="0"/>
          </a:p>
          <a:p>
            <a:pPr algn="ctr" indent="0" marL="0">
              <a:buNone/>
            </a:pPr>
            <a:r>
              <a:rPr lang="en-US" sz="1100" b="1" dirty="0">
                <a:solidFill>
                  <a:srgbClr val="1B2A4A"/>
                </a:solidFill>
                <a:latin typeface="Calibri" pitchFamily="34" charset="0"/>
                <a:ea typeface="Calibri" pitchFamily="34" charset="-122"/>
                <a:cs typeface="Calibri" pitchFamily="34" charset="-120"/>
              </a:rPr>
              <a:t>with AI sims</a:t>
            </a:r>
            <a:endParaRPr lang="en-US" sz="1100" dirty="0"/>
          </a:p>
        </p:txBody>
      </p:sp>
      <p:sp>
        <p:nvSpPr>
          <p:cNvPr id="20" name="Text 18"/>
          <p:cNvSpPr/>
          <p:nvPr/>
        </p:nvSpPr>
        <p:spPr>
          <a:xfrm>
            <a:off x="4983480" y="2560320"/>
            <a:ext cx="1691640" cy="822960"/>
          </a:xfrm>
          <a:prstGeom prst="rect">
            <a:avLst/>
          </a:prstGeom>
          <a:noFill/>
          <a:ln/>
        </p:spPr>
        <p:txBody>
          <a:bodyPr wrap="square" lIns="0" tIns="0" rIns="0" bIns="0" rtlCol="0" anchor="ctr"/>
          <a:lstStyle/>
          <a:p>
            <a:pPr algn="ctr" indent="0" marL="0">
              <a:buNone/>
            </a:pPr>
            <a:r>
              <a:rPr lang="en-US" sz="950" dirty="0">
                <a:solidFill>
                  <a:srgbClr val="8D95A3"/>
                </a:solidFill>
                <a:latin typeface="Calibri" pitchFamily="34" charset="0"/>
                <a:ea typeface="Calibri" pitchFamily="34" charset="-122"/>
                <a:cs typeface="Calibri" pitchFamily="34" charset="-120"/>
              </a:rPr>
              <a:t>AI-powered onboarding</a:t>
            </a:r>
            <a:endParaRPr lang="en-US" sz="950" dirty="0"/>
          </a:p>
          <a:p>
            <a:pPr algn="ctr" indent="0" marL="0">
              <a:buNone/>
            </a:pPr>
            <a:r>
              <a:rPr lang="en-US" sz="950" dirty="0">
                <a:solidFill>
                  <a:srgbClr val="8D95A3"/>
                </a:solidFill>
                <a:latin typeface="Calibri" pitchFamily="34" charset="0"/>
                <a:ea typeface="Calibri" pitchFamily="34" charset="-122"/>
                <a:cs typeface="Calibri" pitchFamily="34" charset="-120"/>
              </a:rPr>
              <a:t>accelerates readiness</a:t>
            </a:r>
            <a:endParaRPr lang="en-US" sz="950" dirty="0"/>
          </a:p>
        </p:txBody>
      </p:sp>
      <p:sp>
        <p:nvSpPr>
          <p:cNvPr id="21" name="Shape 19"/>
          <p:cNvSpPr/>
          <p:nvPr/>
        </p:nvSpPr>
        <p:spPr>
          <a:xfrm>
            <a:off x="6995160" y="1143000"/>
            <a:ext cx="1965960" cy="237744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22" name="Shape 20"/>
          <p:cNvSpPr/>
          <p:nvPr/>
        </p:nvSpPr>
        <p:spPr>
          <a:xfrm>
            <a:off x="6995160" y="1143000"/>
            <a:ext cx="1965960" cy="36576"/>
          </a:xfrm>
          <a:prstGeom prst="rectangle">
            <a:avLst/>
          </a:prstGeom>
          <a:solidFill>
            <a:srgbClr val="E85D4A"/>
          </a:solidFill>
          <a:ln/>
        </p:spPr>
      </p:sp>
      <p:sp>
        <p:nvSpPr>
          <p:cNvPr id="23" name="Text 21"/>
          <p:cNvSpPr/>
          <p:nvPr/>
        </p:nvSpPr>
        <p:spPr>
          <a:xfrm>
            <a:off x="6995160" y="1325880"/>
            <a:ext cx="1965960" cy="640080"/>
          </a:xfrm>
          <a:prstGeom prst="rect">
            <a:avLst/>
          </a:prstGeom>
          <a:noFill/>
          <a:ln/>
        </p:spPr>
        <p:txBody>
          <a:bodyPr wrap="square" lIns="0" tIns="0" rIns="0" bIns="0" rtlCol="0" anchor="ctr"/>
          <a:lstStyle/>
          <a:p>
            <a:pPr algn="ctr" indent="0" marL="0">
              <a:buNone/>
            </a:pPr>
            <a:r>
              <a:rPr lang="en-US" sz="3600" b="1" dirty="0">
                <a:solidFill>
                  <a:srgbClr val="E85D4A"/>
                </a:solidFill>
                <a:latin typeface="Georgia" pitchFamily="34" charset="0"/>
                <a:ea typeface="Georgia" pitchFamily="34" charset="-122"/>
                <a:cs typeface="Georgia" pitchFamily="34" charset="-120"/>
              </a:rPr>
              <a:t>80%+</a:t>
            </a:r>
            <a:endParaRPr lang="en-US" sz="3600" dirty="0"/>
          </a:p>
        </p:txBody>
      </p:sp>
      <p:sp>
        <p:nvSpPr>
          <p:cNvPr id="24" name="Text 22"/>
          <p:cNvSpPr/>
          <p:nvPr/>
        </p:nvSpPr>
        <p:spPr>
          <a:xfrm>
            <a:off x="7132320" y="2011680"/>
            <a:ext cx="1691640" cy="5029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BDR time on</a:t>
            </a:r>
            <a:endParaRPr lang="en-US" sz="1100" dirty="0"/>
          </a:p>
          <a:p>
            <a:pPr algn="ctr" indent="0" marL="0">
              <a:buNone/>
            </a:pPr>
            <a:r>
              <a:rPr lang="en-US" sz="1100" b="1" dirty="0">
                <a:solidFill>
                  <a:srgbClr val="1B2A4A"/>
                </a:solidFill>
                <a:latin typeface="Calibri" pitchFamily="34" charset="0"/>
                <a:ea typeface="Calibri" pitchFamily="34" charset="-122"/>
                <a:cs typeface="Calibri" pitchFamily="34" charset="-120"/>
              </a:rPr>
              <a:t>revenue activities</a:t>
            </a:r>
            <a:endParaRPr lang="en-US" sz="1100" dirty="0"/>
          </a:p>
        </p:txBody>
      </p:sp>
      <p:sp>
        <p:nvSpPr>
          <p:cNvPr id="25" name="Text 23"/>
          <p:cNvSpPr/>
          <p:nvPr/>
        </p:nvSpPr>
        <p:spPr>
          <a:xfrm>
            <a:off x="7132320" y="2560320"/>
            <a:ext cx="1691640" cy="822960"/>
          </a:xfrm>
          <a:prstGeom prst="rect">
            <a:avLst/>
          </a:prstGeom>
          <a:noFill/>
          <a:ln/>
        </p:spPr>
        <p:txBody>
          <a:bodyPr wrap="square" lIns="0" tIns="0" rIns="0" bIns="0" rtlCol="0" anchor="ctr"/>
          <a:lstStyle/>
          <a:p>
            <a:pPr algn="ctr" indent="0" marL="0">
              <a:buNone/>
            </a:pPr>
            <a:r>
              <a:rPr lang="en-US" sz="950" dirty="0">
                <a:solidFill>
                  <a:srgbClr val="8D95A3"/>
                </a:solidFill>
                <a:latin typeface="Calibri" pitchFamily="34" charset="0"/>
                <a:ea typeface="Calibri" pitchFamily="34" charset="-122"/>
                <a:cs typeface="Calibri" pitchFamily="34" charset="-120"/>
              </a:rPr>
              <a:t>AI handles non-revenue</a:t>
            </a:r>
            <a:endParaRPr lang="en-US" sz="950" dirty="0"/>
          </a:p>
          <a:p>
            <a:pPr algn="ctr" indent="0" marL="0">
              <a:buNone/>
            </a:pPr>
            <a:r>
              <a:rPr lang="en-US" sz="950" dirty="0">
                <a:solidFill>
                  <a:srgbClr val="8D95A3"/>
                </a:solidFill>
                <a:latin typeface="Calibri" pitchFamily="34" charset="0"/>
                <a:ea typeface="Calibri" pitchFamily="34" charset="-122"/>
                <a:cs typeface="Calibri" pitchFamily="34" charset="-120"/>
              </a:rPr>
              <a:t>tasks automatically</a:t>
            </a:r>
            <a:endParaRPr lang="en-US" sz="950" dirty="0"/>
          </a:p>
        </p:txBody>
      </p:sp>
      <p:sp>
        <p:nvSpPr>
          <p:cNvPr id="26" name="Shape 24"/>
          <p:cNvSpPr/>
          <p:nvPr/>
        </p:nvSpPr>
        <p:spPr>
          <a:xfrm>
            <a:off x="548640" y="3794760"/>
            <a:ext cx="8138160" cy="1005840"/>
          </a:xfrm>
          <a:prstGeom prst="rectangle">
            <a:avLst/>
          </a:prstGeom>
          <a:solidFill>
            <a:srgbClr val="1B2A4A"/>
          </a:solidFill>
          <a:ln/>
        </p:spPr>
      </p:sp>
      <p:sp>
        <p:nvSpPr>
          <p:cNvPr id="27" name="Text 25"/>
          <p:cNvSpPr/>
          <p:nvPr/>
        </p:nvSpPr>
        <p:spPr>
          <a:xfrm>
            <a:off x="731520" y="3886200"/>
            <a:ext cx="7772400" cy="8229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Owner.com achieved $72K ARR per BDR monthly at $6K ACV. With Harmonia's AI-first approach and higher HVAC ticket values, the per-rep economics are even more favorable for client HVAC companies.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angle">
            <a:avLst/>
          </a:prstGeom>
          <a:solidFill>
            <a:srgbClr val="D4A843"/>
          </a:solidFill>
          <a:ln/>
        </p:spPr>
      </p:sp>
      <p:sp>
        <p:nvSpPr>
          <p:cNvPr id="3" name="Text 1"/>
          <p:cNvSpPr/>
          <p:nvPr/>
        </p:nvSpPr>
        <p:spPr>
          <a:xfrm>
            <a:off x="548640" y="137160"/>
            <a:ext cx="4572000" cy="274320"/>
          </a:xfrm>
          <a:prstGeom prst="rect">
            <a:avLst/>
          </a:prstGeom>
          <a:noFill/>
          <a:ln/>
        </p:spPr>
        <p:txBody>
          <a:bodyPr wrap="square" lIns="0" tIns="0" rIns="0" bIns="0" rtlCol="0" anchor="ctr"/>
          <a:lstStyle/>
          <a:p>
            <a:pPr indent="0" marL="0">
              <a:buNone/>
            </a:pPr>
            <a:r>
              <a:rPr lang="en-US" sz="900" b="1" spc="300" kern="0" dirty="0">
                <a:solidFill>
                  <a:srgbClr val="D4A843"/>
                </a:solidFill>
                <a:latin typeface="Calibri" pitchFamily="34" charset="0"/>
                <a:ea typeface="Calibri" pitchFamily="34" charset="-122"/>
                <a:cs typeface="Calibri" pitchFamily="34" charset="-120"/>
              </a:rPr>
              <a:t>IMPLEMENTATION ROADMAP</a:t>
            </a:r>
            <a:endParaRPr lang="en-US" sz="900" dirty="0"/>
          </a:p>
        </p:txBody>
      </p:sp>
      <p:sp>
        <p:nvSpPr>
          <p:cNvPr id="4" name="Text 2"/>
          <p:cNvSpPr/>
          <p:nvPr/>
        </p:nvSpPr>
        <p:spPr>
          <a:xfrm>
            <a:off x="8046720" y="4754880"/>
            <a:ext cx="914400" cy="320040"/>
          </a:xfrm>
          <a:prstGeom prst="rect">
            <a:avLst/>
          </a:prstGeom>
          <a:noFill/>
          <a:ln/>
        </p:spPr>
        <p:txBody>
          <a:bodyPr wrap="square" lIns="0" tIns="0" rIns="0" bIns="0" rtlCol="0" anchor="ctr"/>
          <a:lstStyle/>
          <a:p>
            <a:pPr algn="r" indent="0" marL="0">
              <a:buNone/>
            </a:pPr>
            <a:r>
              <a:rPr lang="en-US" sz="900" dirty="0">
                <a:solidFill>
                  <a:srgbClr val="8D95A3"/>
                </a:solidFill>
                <a:latin typeface="Calibri" pitchFamily="34" charset="0"/>
                <a:ea typeface="Calibri" pitchFamily="34" charset="-122"/>
                <a:cs typeface="Calibri" pitchFamily="34" charset="-120"/>
              </a:rPr>
              <a:t>12 / 13</a:t>
            </a:r>
            <a:endParaRPr lang="en-US" sz="900" dirty="0"/>
          </a:p>
        </p:txBody>
      </p:sp>
      <p:sp>
        <p:nvSpPr>
          <p:cNvPr id="5" name="Text 3"/>
          <p:cNvSpPr/>
          <p:nvPr/>
        </p:nvSpPr>
        <p:spPr>
          <a:xfrm>
            <a:off x="548640" y="457200"/>
            <a:ext cx="8046720" cy="548640"/>
          </a:xfrm>
          <a:prstGeom prst="rect">
            <a:avLst/>
          </a:prstGeom>
          <a:noFill/>
          <a:ln/>
        </p:spPr>
        <p:txBody>
          <a:bodyPr wrap="square" lIns="0" tIns="0" rIns="0" bIns="0"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Recommended Roadmap for Harmonia</a:t>
            </a:r>
            <a:endParaRPr lang="en-US" sz="2200" dirty="0"/>
          </a:p>
        </p:txBody>
      </p:sp>
      <p:sp>
        <p:nvSpPr>
          <p:cNvPr id="6" name="Shape 4"/>
          <p:cNvSpPr/>
          <p:nvPr/>
        </p:nvSpPr>
        <p:spPr>
          <a:xfrm>
            <a:off x="548640" y="1097280"/>
            <a:ext cx="2651760" cy="374904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7" name="Shape 5"/>
          <p:cNvSpPr/>
          <p:nvPr/>
        </p:nvSpPr>
        <p:spPr>
          <a:xfrm>
            <a:off x="548640" y="1097280"/>
            <a:ext cx="2651760" cy="502920"/>
          </a:xfrm>
          <a:prstGeom prst="rectangle">
            <a:avLst/>
          </a:prstGeom>
          <a:solidFill>
            <a:srgbClr val="D4A843"/>
          </a:solidFill>
          <a:ln/>
        </p:spPr>
      </p:sp>
      <p:sp>
        <p:nvSpPr>
          <p:cNvPr id="8" name="Text 6"/>
          <p:cNvSpPr/>
          <p:nvPr/>
        </p:nvSpPr>
        <p:spPr>
          <a:xfrm>
            <a:off x="685800" y="1143000"/>
            <a:ext cx="13716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1</a:t>
            </a:r>
            <a:endParaRPr lang="en-US" sz="1000" dirty="0"/>
          </a:p>
        </p:txBody>
      </p:sp>
      <p:sp>
        <p:nvSpPr>
          <p:cNvPr id="9" name="Text 7"/>
          <p:cNvSpPr/>
          <p:nvPr/>
        </p:nvSpPr>
        <p:spPr>
          <a:xfrm>
            <a:off x="685800" y="1353312"/>
            <a:ext cx="237744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Weeks 1-4</a:t>
            </a:r>
            <a:endParaRPr lang="en-US" sz="900" dirty="0"/>
          </a:p>
        </p:txBody>
      </p:sp>
      <p:sp>
        <p:nvSpPr>
          <p:cNvPr id="10" name="Text 8"/>
          <p:cNvSpPr/>
          <p:nvPr/>
        </p:nvSpPr>
        <p:spPr>
          <a:xfrm>
            <a:off x="685800" y="1691640"/>
            <a:ext cx="2377440" cy="3200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Foundation</a:t>
            </a:r>
            <a:endParaRPr lang="en-US" sz="1600" dirty="0"/>
          </a:p>
        </p:txBody>
      </p:sp>
      <p:sp>
        <p:nvSpPr>
          <p:cNvPr id="11" name="Text 9"/>
          <p:cNvSpPr/>
          <p:nvPr/>
        </p:nvSpPr>
        <p:spPr>
          <a:xfrm>
            <a:off x="685800" y="2103120"/>
            <a:ext cx="2377440" cy="256032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Audit current lead data quality in Airtable</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Enrich lead records with verified phone numbers</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Implement data validation on all intake webhooks</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Track connect rate + booking rate baselines</a:t>
            </a:r>
            <a:endParaRPr lang="en-US" sz="1000" dirty="0"/>
          </a:p>
        </p:txBody>
      </p:sp>
      <p:sp>
        <p:nvSpPr>
          <p:cNvPr id="12" name="Shape 10"/>
          <p:cNvSpPr/>
          <p:nvPr/>
        </p:nvSpPr>
        <p:spPr>
          <a:xfrm>
            <a:off x="3383280" y="1097280"/>
            <a:ext cx="2651760" cy="374904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3" name="Shape 11"/>
          <p:cNvSpPr/>
          <p:nvPr/>
        </p:nvSpPr>
        <p:spPr>
          <a:xfrm>
            <a:off x="3383280" y="1097280"/>
            <a:ext cx="2651760" cy="502920"/>
          </a:xfrm>
          <a:prstGeom prst="rectangle">
            <a:avLst/>
          </a:prstGeom>
          <a:solidFill>
            <a:srgbClr val="1A9E8F"/>
          </a:solidFill>
          <a:ln/>
        </p:spPr>
      </p:sp>
      <p:sp>
        <p:nvSpPr>
          <p:cNvPr id="14" name="Text 12"/>
          <p:cNvSpPr/>
          <p:nvPr/>
        </p:nvSpPr>
        <p:spPr>
          <a:xfrm>
            <a:off x="3520440" y="1143000"/>
            <a:ext cx="13716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2</a:t>
            </a:r>
            <a:endParaRPr lang="en-US" sz="1000" dirty="0"/>
          </a:p>
        </p:txBody>
      </p:sp>
      <p:sp>
        <p:nvSpPr>
          <p:cNvPr id="15" name="Text 13"/>
          <p:cNvSpPr/>
          <p:nvPr/>
        </p:nvSpPr>
        <p:spPr>
          <a:xfrm>
            <a:off x="3520440" y="1353312"/>
            <a:ext cx="237744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Weeks 5-12</a:t>
            </a:r>
            <a:endParaRPr lang="en-US" sz="900" dirty="0"/>
          </a:p>
        </p:txBody>
      </p:sp>
      <p:sp>
        <p:nvSpPr>
          <p:cNvPr id="16" name="Text 14"/>
          <p:cNvSpPr/>
          <p:nvPr/>
        </p:nvSpPr>
        <p:spPr>
          <a:xfrm>
            <a:off x="3520440" y="1691640"/>
            <a:ext cx="2377440" cy="3200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Intelligence</a:t>
            </a:r>
            <a:endParaRPr lang="en-US" sz="1600" dirty="0"/>
          </a:p>
        </p:txBody>
      </p:sp>
      <p:sp>
        <p:nvSpPr>
          <p:cNvPr id="17" name="Text 15"/>
          <p:cNvSpPr/>
          <p:nvPr/>
        </p:nvSpPr>
        <p:spPr>
          <a:xfrm>
            <a:off x="3520440" y="2103120"/>
            <a:ext cx="2377440" cy="256032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Build predictive lead scoring model (replace rule-based)</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Auto-pull local proof (nearest ST customer) per lead</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Implement maturity-based Vapi script routing</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Add call intelligence: auto-extract insights from transcripts</a:t>
            </a:r>
            <a:endParaRPr lang="en-US" sz="1000" dirty="0"/>
          </a:p>
        </p:txBody>
      </p:sp>
      <p:sp>
        <p:nvSpPr>
          <p:cNvPr id="18" name="Shape 16"/>
          <p:cNvSpPr/>
          <p:nvPr/>
        </p:nvSpPr>
        <p:spPr>
          <a:xfrm>
            <a:off x="6217920" y="1097280"/>
            <a:ext cx="2651760" cy="3749040"/>
          </a:xfrm>
          <a:prstGeom prst="rectangle">
            <a:avLst/>
          </a:prstGeom>
          <a:solidFill>
            <a:srgbClr val="FFFFFF"/>
          </a:solidFill>
          <a:ln/>
          <a:effectLst>
            <a:outerShdw sx="100000" sy="100000" kx="0" ky="0" algn="bl" rotWithShape="0" blurRad="50800" dist="25400" dir="8100000">
              <a:srgbClr val="000000">
                <a:alpha val="10000"/>
              </a:srgbClr>
            </a:outerShdw>
          </a:effectLst>
        </p:spPr>
      </p:sp>
      <p:sp>
        <p:nvSpPr>
          <p:cNvPr id="19" name="Shape 17"/>
          <p:cNvSpPr/>
          <p:nvPr/>
        </p:nvSpPr>
        <p:spPr>
          <a:xfrm>
            <a:off x="6217920" y="1097280"/>
            <a:ext cx="2651760" cy="502920"/>
          </a:xfrm>
          <a:prstGeom prst="rectangle">
            <a:avLst/>
          </a:prstGeom>
          <a:solidFill>
            <a:srgbClr val="3B82F6"/>
          </a:solidFill>
          <a:ln/>
        </p:spPr>
      </p:sp>
      <p:sp>
        <p:nvSpPr>
          <p:cNvPr id="20" name="Text 18"/>
          <p:cNvSpPr/>
          <p:nvPr/>
        </p:nvSpPr>
        <p:spPr>
          <a:xfrm>
            <a:off x="6355080" y="1143000"/>
            <a:ext cx="1371600" cy="22860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Phase 3</a:t>
            </a:r>
            <a:endParaRPr lang="en-US" sz="1000" dirty="0"/>
          </a:p>
        </p:txBody>
      </p:sp>
      <p:sp>
        <p:nvSpPr>
          <p:cNvPr id="21" name="Text 19"/>
          <p:cNvSpPr/>
          <p:nvPr/>
        </p:nvSpPr>
        <p:spPr>
          <a:xfrm>
            <a:off x="6355080" y="1353312"/>
            <a:ext cx="2377440" cy="18288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Weeks 13-20</a:t>
            </a:r>
            <a:endParaRPr lang="en-US" sz="900" dirty="0"/>
          </a:p>
        </p:txBody>
      </p:sp>
      <p:sp>
        <p:nvSpPr>
          <p:cNvPr id="22" name="Text 20"/>
          <p:cNvSpPr/>
          <p:nvPr/>
        </p:nvSpPr>
        <p:spPr>
          <a:xfrm>
            <a:off x="6355080" y="1691640"/>
            <a:ext cx="2377440" cy="3200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Scale</a:t>
            </a:r>
            <a:endParaRPr lang="en-US" sz="1600" dirty="0"/>
          </a:p>
        </p:txBody>
      </p:sp>
      <p:sp>
        <p:nvSpPr>
          <p:cNvPr id="23" name="Text 21"/>
          <p:cNvSpPr/>
          <p:nvPr/>
        </p:nvSpPr>
        <p:spPr>
          <a:xfrm>
            <a:off x="6355080" y="2103120"/>
            <a:ext cx="2377440" cy="2560320"/>
          </a:xfrm>
          <a:prstGeom prst="rect">
            <a:avLst/>
          </a:prstGeom>
          <a:noFill/>
          <a:ln/>
        </p:spPr>
        <p:txBody>
          <a:bodyPr wrap="square" lIns="0" tIns="0" rIns="0" bIns="0" rtlCol="0" anchor="ctr"/>
          <a:lstStyle/>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Launch AI sim training for HVAC company onboarding</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Build centralized knowledge base for client teams</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Implement performance dashboards (stack ranking)</a:t>
            </a:r>
            <a:endParaRPr lang="en-US" sz="1000" dirty="0"/>
          </a:p>
          <a:p>
            <a:pPr marL="342900" indent="-342900">
              <a:spcAft>
                <a:spcPts val="600"/>
              </a:spcAft>
              <a:buSzPct val="100000"/>
              <a:buChar char="•"/>
            </a:pPr>
            <a:r>
              <a:rPr lang="en-US" sz="1000" dirty="0">
                <a:solidFill>
                  <a:srgbClr val="4A5568"/>
                </a:solidFill>
                <a:latin typeface="Calibri" pitchFamily="34" charset="0"/>
                <a:ea typeface="Calibri" pitchFamily="34" charset="-122"/>
                <a:cs typeface="Calibri" pitchFamily="34" charset="-120"/>
              </a:rPr>
              <a:t>Package as "Outbound-in-a-Box" for Agency Acquisition</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33"/>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angle">
            <a:avLst/>
          </a:prstGeom>
          <a:solidFill>
            <a:srgbClr val="D4A843"/>
          </a:solidFill>
          <a:ln/>
        </p:spPr>
      </p:sp>
      <p:sp>
        <p:nvSpPr>
          <p:cNvPr id="3" name="Text 1"/>
          <p:cNvSpPr/>
          <p:nvPr/>
        </p:nvSpPr>
        <p:spPr>
          <a:xfrm>
            <a:off x="731520" y="914400"/>
            <a:ext cx="7680960" cy="457200"/>
          </a:xfrm>
          <a:prstGeom prst="rect">
            <a:avLst/>
          </a:prstGeom>
          <a:noFill/>
          <a:ln/>
        </p:spPr>
        <p:txBody>
          <a:bodyPr wrap="square" lIns="0" tIns="0" rIns="0" bIns="0" rtlCol="0" anchor="ctr"/>
          <a:lstStyle/>
          <a:p>
            <a:pPr indent="0" marL="0">
              <a:buNone/>
            </a:pPr>
            <a:r>
              <a:rPr lang="en-US" sz="1400" b="1" spc="300" kern="0" dirty="0">
                <a:solidFill>
                  <a:srgbClr val="D4A843"/>
                </a:solidFill>
                <a:latin typeface="Calibri" pitchFamily="34" charset="0"/>
                <a:ea typeface="Calibri" pitchFamily="34" charset="-122"/>
                <a:cs typeface="Calibri" pitchFamily="34" charset="-120"/>
              </a:rPr>
              <a:t>Key Takeaway</a:t>
            </a:r>
            <a:endParaRPr lang="en-US" sz="1400" dirty="0"/>
          </a:p>
        </p:txBody>
      </p:sp>
      <p:sp>
        <p:nvSpPr>
          <p:cNvPr id="4" name="Text 2"/>
          <p:cNvSpPr/>
          <p:nvPr/>
        </p:nvSpPr>
        <p:spPr>
          <a:xfrm>
            <a:off x="731520" y="1463040"/>
            <a:ext cx="7680960" cy="10972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Outbound is not about more reps.</a:t>
            </a:r>
            <a:endParaRPr lang="en-US" sz="3200" dirty="0"/>
          </a:p>
          <a:p>
            <a:pPr indent="0" marL="0">
              <a:buNone/>
            </a:pPr>
            <a:r>
              <a:rPr lang="en-US" sz="3200" b="1" dirty="0">
                <a:solidFill>
                  <a:srgbClr val="FFFFFF"/>
                </a:solidFill>
                <a:latin typeface="Georgia" pitchFamily="34" charset="0"/>
                <a:ea typeface="Georgia" pitchFamily="34" charset="-122"/>
                <a:cs typeface="Georgia" pitchFamily="34" charset="-120"/>
              </a:rPr>
              <a:t>It's about better systems.</a:t>
            </a:r>
            <a:endParaRPr lang="en-US" sz="3200" dirty="0"/>
          </a:p>
        </p:txBody>
      </p:sp>
      <p:sp>
        <p:nvSpPr>
          <p:cNvPr id="5" name="Shape 3"/>
          <p:cNvSpPr/>
          <p:nvPr/>
        </p:nvSpPr>
        <p:spPr>
          <a:xfrm>
            <a:off x="731520" y="2834640"/>
            <a:ext cx="2286000" cy="27432"/>
          </a:xfrm>
          <a:prstGeom prst="rectangle">
            <a:avLst/>
          </a:prstGeom>
          <a:solidFill>
            <a:srgbClr val="D4A843"/>
          </a:solidFill>
          <a:ln/>
        </p:spPr>
      </p:sp>
      <p:sp>
        <p:nvSpPr>
          <p:cNvPr id="6" name="Text 4"/>
          <p:cNvSpPr/>
          <p:nvPr/>
        </p:nvSpPr>
        <p:spPr>
          <a:xfrm>
            <a:off x="731520" y="3108960"/>
            <a:ext cx="7680960" cy="914400"/>
          </a:xfrm>
          <a:prstGeom prst="rect">
            <a:avLst/>
          </a:prstGeom>
          <a:noFill/>
          <a:ln/>
        </p:spPr>
        <p:txBody>
          <a:bodyPr wrap="square" lIns="0" tIns="0" rIns="0" bIns="0" rtlCol="0" anchor="ctr"/>
          <a:lstStyle/>
          <a:p>
            <a:pPr indent="0" marL="0">
              <a:buNone/>
            </a:pPr>
            <a:r>
              <a:rPr lang="en-US" sz="1400" dirty="0">
                <a:solidFill>
                  <a:srgbClr val="8D95A3"/>
                </a:solidFill>
                <a:latin typeface="Calibri" pitchFamily="34" charset="0"/>
                <a:ea typeface="Calibri" pitchFamily="34" charset="-122"/>
                <a:cs typeface="Calibri" pitchFamily="34" charset="-120"/>
              </a:rPr>
              <a:t>Harmonia already has the AI-first DNA that Owner.com spent years building. The opportunity is to layer on predictive scoring, clean data infrastructure, and structured enablement to create an outbound engine that scales for every HVAC company in the portfolio.</a:t>
            </a:r>
            <a:endParaRPr lang="en-US" sz="1400" dirty="0"/>
          </a:p>
        </p:txBody>
      </p:sp>
      <p:sp>
        <p:nvSpPr>
          <p:cNvPr id="7" name="Text 5"/>
          <p:cNvSpPr/>
          <p:nvPr/>
        </p:nvSpPr>
        <p:spPr>
          <a:xfrm>
            <a:off x="731520" y="4389120"/>
            <a:ext cx="7680960" cy="365760"/>
          </a:xfrm>
          <a:prstGeom prst="rect">
            <a:avLst/>
          </a:prstGeom>
          <a:noFill/>
          <a:ln/>
        </p:spPr>
        <p:txBody>
          <a:bodyPr wrap="square" lIns="0" tIns="0" rIns="0" bIns="0" rtlCol="0" anchor="ctr"/>
          <a:lstStyle/>
          <a:p>
            <a:pPr indent="0" marL="0">
              <a:buNone/>
            </a:pPr>
            <a:r>
              <a:rPr lang="en-US" sz="1000" spc="200" kern="0" dirty="0">
                <a:solidFill>
                  <a:srgbClr val="D4A843"/>
                </a:solidFill>
                <a:latin typeface="Calibri" pitchFamily="34" charset="0"/>
                <a:ea typeface="Calibri" pitchFamily="34" charset="-122"/>
                <a:cs typeface="Calibri" pitchFamily="34" charset="-120"/>
              </a:rPr>
              <a:t>HARMONIA  |  STRATEGIC ANALYSIS  |  FEBRUARY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Scaling Outbound: Owner.com Playbook for Harmonia</dc:title>
  <dc:subject>PptxGenJS Presentation</dc:subject>
  <dc:creator>Harmonia Strategy</dc:creator>
  <cp:lastModifiedBy>Harmonia Strategy</cp:lastModifiedBy>
  <cp:revision>1</cp:revision>
  <dcterms:created xsi:type="dcterms:W3CDTF">2026-02-19T20:44:14Z</dcterms:created>
  <dcterms:modified xsi:type="dcterms:W3CDTF">2026-02-19T20:44:14Z</dcterms:modified>
</cp:coreProperties>
</file>